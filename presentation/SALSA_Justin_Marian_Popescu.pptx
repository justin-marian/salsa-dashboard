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omments/modernComment_106_0.xml" ContentType="application/vnd.ms-powerpoint.comment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1216838-DBC5-3B7F-972E-1B46D953BC89}" name="Justin-Marian POPESCU (124443)" initials="JP" userId="S::justin.popescu1605@stud.acs.upb.ro::d6c4e348-1fdc-4855-bc76-6241b3a4664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1DE"/>
    <a:srgbClr val="FD8003"/>
    <a:srgbClr val="612A8A"/>
    <a:srgbClr val="461E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16" autoAdjust="0"/>
    <p:restoredTop sz="92693" autoAdjust="0"/>
  </p:normalViewPr>
  <p:slideViewPr>
    <p:cSldViewPr snapToGrid="0" snapToObjects="1">
      <p:cViewPr varScale="1">
        <p:scale>
          <a:sx n="100" d="100"/>
          <a:sy n="100" d="100"/>
        </p:scale>
        <p:origin x="4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omments/modernComment_106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2364676-7A0E-4C6C-9DFE-686233BAA219}" authorId="{51216838-DBC5-3B7F-972E-1B46D953BC89}" status="resolved" created="2025-11-05T22:57:02.650" complete="100000">
    <pc:sldMkLst xmlns:pc="http://schemas.microsoft.com/office/powerpoint/2013/main/command">
      <pc:docMk/>
      <pc:sldMk cId="0" sldId="262"/>
    </pc:sldMkLst>
    <p188:txBody>
      <a:bodyPr/>
      <a:lstStyle/>
      <a:p>
        <a:r>
          <a:rPr lang="en-US"/>
          <a:t>SLIDE 7 MODIFICAT IMAGINEA
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6601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18" Type="http://schemas.openxmlformats.org/officeDocument/2006/relationships/image" Target="../media/image26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4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19" Type="http://schemas.openxmlformats.org/officeDocument/2006/relationships/image" Target="../media/image27.png"/><Relationship Id="rId4" Type="http://schemas.openxmlformats.org/officeDocument/2006/relationships/image" Target="../media/image8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4.png"/><Relationship Id="rId3" Type="http://schemas.openxmlformats.org/officeDocument/2006/relationships/image" Target="../media/image28.png"/><Relationship Id="rId7" Type="http://schemas.openxmlformats.org/officeDocument/2006/relationships/image" Target="../media/image9.png"/><Relationship Id="rId12" Type="http://schemas.openxmlformats.org/officeDocument/2006/relationships/image" Target="../media/image3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32.png"/><Relationship Id="rId5" Type="http://schemas.openxmlformats.org/officeDocument/2006/relationships/image" Target="../media/image29.png"/><Relationship Id="rId10" Type="http://schemas.openxmlformats.org/officeDocument/2006/relationships/image" Target="../media/image31.png"/><Relationship Id="rId4" Type="http://schemas.openxmlformats.org/officeDocument/2006/relationships/image" Target="../media/image8.png"/><Relationship Id="rId9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18" Type="http://schemas.openxmlformats.org/officeDocument/2006/relationships/image" Target="../media/image49.png"/><Relationship Id="rId3" Type="http://schemas.openxmlformats.org/officeDocument/2006/relationships/image" Target="../media/image35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17" Type="http://schemas.openxmlformats.org/officeDocument/2006/relationships/image" Target="../media/image48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4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5" Type="http://schemas.openxmlformats.org/officeDocument/2006/relationships/image" Target="../media/image46.png"/><Relationship Id="rId10" Type="http://schemas.openxmlformats.org/officeDocument/2006/relationships/image" Target="../media/image41.png"/><Relationship Id="rId19" Type="http://schemas.openxmlformats.org/officeDocument/2006/relationships/image" Target="../media/image26.png"/><Relationship Id="rId4" Type="http://schemas.openxmlformats.org/officeDocument/2006/relationships/image" Target="../media/image8.png"/><Relationship Id="rId9" Type="http://schemas.openxmlformats.org/officeDocument/2006/relationships/image" Target="../media/image40.png"/><Relationship Id="rId14" Type="http://schemas.openxmlformats.org/officeDocument/2006/relationships/image" Target="../media/image4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50.png"/><Relationship Id="rId7" Type="http://schemas.openxmlformats.org/officeDocument/2006/relationships/image" Target="../media/image53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11" Type="http://schemas.openxmlformats.org/officeDocument/2006/relationships/image" Target="../media/image57.png"/><Relationship Id="rId5" Type="http://schemas.openxmlformats.org/officeDocument/2006/relationships/image" Target="../media/image51.png"/><Relationship Id="rId10" Type="http://schemas.openxmlformats.org/officeDocument/2006/relationships/image" Target="../media/image56.png"/><Relationship Id="rId4" Type="http://schemas.openxmlformats.org/officeDocument/2006/relationships/image" Target="../media/image8.png"/><Relationship Id="rId9" Type="http://schemas.openxmlformats.org/officeDocument/2006/relationships/image" Target="../media/image5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63.png"/><Relationship Id="rId3" Type="http://schemas.microsoft.com/office/2018/10/relationships/comments" Target="../comments/modernComment_106_0.xml"/><Relationship Id="rId7" Type="http://schemas.openxmlformats.org/officeDocument/2006/relationships/image" Target="../media/image60.png"/><Relationship Id="rId12" Type="http://schemas.openxmlformats.org/officeDocument/2006/relationships/image" Target="../media/image68.png"/><Relationship Id="rId17" Type="http://schemas.openxmlformats.org/officeDocument/2006/relationships/image" Target="../media/image67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6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5" Type="http://schemas.openxmlformats.org/officeDocument/2006/relationships/image" Target="../media/image8.png"/><Relationship Id="rId15" Type="http://schemas.openxmlformats.org/officeDocument/2006/relationships/image" Target="../media/image65.png"/><Relationship Id="rId10" Type="http://schemas.openxmlformats.org/officeDocument/2006/relationships/image" Target="../media/image19.png"/><Relationship Id="rId4" Type="http://schemas.openxmlformats.org/officeDocument/2006/relationships/image" Target="../media/image58.png"/><Relationship Id="rId9" Type="http://schemas.openxmlformats.org/officeDocument/2006/relationships/image" Target="../media/image62.png"/><Relationship Id="rId14" Type="http://schemas.openxmlformats.org/officeDocument/2006/relationships/image" Target="../media/image6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13" Type="http://schemas.openxmlformats.org/officeDocument/2006/relationships/image" Target="../media/image77.png"/><Relationship Id="rId3" Type="http://schemas.openxmlformats.org/officeDocument/2006/relationships/image" Target="../media/image7.png"/><Relationship Id="rId7" Type="http://schemas.openxmlformats.org/officeDocument/2006/relationships/image" Target="../media/image71.png"/><Relationship Id="rId12" Type="http://schemas.openxmlformats.org/officeDocument/2006/relationships/image" Target="../media/image7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11" Type="http://schemas.openxmlformats.org/officeDocument/2006/relationships/image" Target="../media/image75.png"/><Relationship Id="rId5" Type="http://schemas.openxmlformats.org/officeDocument/2006/relationships/image" Target="../media/image69.png"/><Relationship Id="rId15" Type="http://schemas.openxmlformats.org/officeDocument/2006/relationships/image" Target="../media/image79.png"/><Relationship Id="rId10" Type="http://schemas.openxmlformats.org/officeDocument/2006/relationships/image" Target="../media/image74.png"/><Relationship Id="rId4" Type="http://schemas.openxmlformats.org/officeDocument/2006/relationships/image" Target="../media/image8.png"/><Relationship Id="rId9" Type="http://schemas.openxmlformats.org/officeDocument/2006/relationships/image" Target="../media/image73.png"/><Relationship Id="rId14" Type="http://schemas.openxmlformats.org/officeDocument/2006/relationships/image" Target="../media/image7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13" Type="http://schemas.openxmlformats.org/officeDocument/2006/relationships/image" Target="../media/image86.png"/><Relationship Id="rId3" Type="http://schemas.openxmlformats.org/officeDocument/2006/relationships/image" Target="../media/image7.png"/><Relationship Id="rId7" Type="http://schemas.openxmlformats.org/officeDocument/2006/relationships/image" Target="../media/image81.png"/><Relationship Id="rId12" Type="http://schemas.openxmlformats.org/officeDocument/2006/relationships/image" Target="../media/image8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0.png"/><Relationship Id="rId11" Type="http://schemas.openxmlformats.org/officeDocument/2006/relationships/image" Target="../media/image84.png"/><Relationship Id="rId5" Type="http://schemas.openxmlformats.org/officeDocument/2006/relationships/image" Target="../media/image29.png"/><Relationship Id="rId15" Type="http://schemas.openxmlformats.org/officeDocument/2006/relationships/image" Target="../media/image88.png"/><Relationship Id="rId10" Type="http://schemas.openxmlformats.org/officeDocument/2006/relationships/image" Target="../media/image83.png"/><Relationship Id="rId4" Type="http://schemas.openxmlformats.org/officeDocument/2006/relationships/image" Target="../media/image8.png"/><Relationship Id="rId9" Type="http://schemas.openxmlformats.org/officeDocument/2006/relationships/image" Target="../media/image19.png"/><Relationship Id="rId14" Type="http://schemas.openxmlformats.org/officeDocument/2006/relationships/image" Target="../media/image8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13" Type="http://schemas.openxmlformats.org/officeDocument/2006/relationships/image" Target="../media/image94.png"/><Relationship Id="rId18" Type="http://schemas.openxmlformats.org/officeDocument/2006/relationships/image" Target="../media/image99.png"/><Relationship Id="rId3" Type="http://schemas.openxmlformats.org/officeDocument/2006/relationships/image" Target="../media/image7.png"/><Relationship Id="rId7" Type="http://schemas.openxmlformats.org/officeDocument/2006/relationships/image" Target="../media/image90.png"/><Relationship Id="rId12" Type="http://schemas.openxmlformats.org/officeDocument/2006/relationships/image" Target="../media/image93.png"/><Relationship Id="rId17" Type="http://schemas.openxmlformats.org/officeDocument/2006/relationships/image" Target="../media/image98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9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9.png"/><Relationship Id="rId11" Type="http://schemas.openxmlformats.org/officeDocument/2006/relationships/image" Target="../media/image92.png"/><Relationship Id="rId5" Type="http://schemas.openxmlformats.org/officeDocument/2006/relationships/image" Target="../media/image10.png"/><Relationship Id="rId15" Type="http://schemas.openxmlformats.org/officeDocument/2006/relationships/image" Target="../media/image96.png"/><Relationship Id="rId10" Type="http://schemas.openxmlformats.org/officeDocument/2006/relationships/image" Target="../media/image91.png"/><Relationship Id="rId4" Type="http://schemas.openxmlformats.org/officeDocument/2006/relationships/image" Target="../media/image8.png"/><Relationship Id="rId9" Type="http://schemas.openxmlformats.org/officeDocument/2006/relationships/image" Target="../media/image88.png"/><Relationship Id="rId14" Type="http://schemas.openxmlformats.org/officeDocument/2006/relationships/image" Target="../media/image9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3" Type="http://schemas.openxmlformats.org/officeDocument/2006/relationships/image" Target="../media/image7.png"/><Relationship Id="rId7" Type="http://schemas.openxmlformats.org/officeDocument/2006/relationships/image" Target="../media/image10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1.png"/><Relationship Id="rId11" Type="http://schemas.openxmlformats.org/officeDocument/2006/relationships/image" Target="../media/image106.png"/><Relationship Id="rId5" Type="http://schemas.openxmlformats.org/officeDocument/2006/relationships/image" Target="../media/image100.png"/><Relationship Id="rId10" Type="http://schemas.openxmlformats.org/officeDocument/2006/relationships/image" Target="../media/image105.png"/><Relationship Id="rId4" Type="http://schemas.openxmlformats.org/officeDocument/2006/relationships/image" Target="../media/image8.png"/><Relationship Id="rId9" Type="http://schemas.openxmlformats.org/officeDocument/2006/relationships/image" Target="../media/image10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13" Type="http://schemas.openxmlformats.org/officeDocument/2006/relationships/image" Target="../media/image115.png"/><Relationship Id="rId18" Type="http://schemas.openxmlformats.org/officeDocument/2006/relationships/hyperlink" Target="https://snap.stanford.edu/data/" TargetMode="External"/><Relationship Id="rId3" Type="http://schemas.openxmlformats.org/officeDocument/2006/relationships/image" Target="../media/image7.png"/><Relationship Id="rId21" Type="http://schemas.openxmlformats.org/officeDocument/2006/relationships/hyperlink" Target="https://snap.stanford.edu/data/wiki-Vote.html" TargetMode="External"/><Relationship Id="rId7" Type="http://schemas.openxmlformats.org/officeDocument/2006/relationships/image" Target="../media/image109.png"/><Relationship Id="rId12" Type="http://schemas.openxmlformats.org/officeDocument/2006/relationships/image" Target="../media/image114.png"/><Relationship Id="rId17" Type="http://schemas.openxmlformats.org/officeDocument/2006/relationships/image" Target="../media/image119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118.png"/><Relationship Id="rId20" Type="http://schemas.openxmlformats.org/officeDocument/2006/relationships/hyperlink" Target="https://snap.stanford.edu/data/soc-sign-bitcoin-otc.html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8.png"/><Relationship Id="rId11" Type="http://schemas.openxmlformats.org/officeDocument/2006/relationships/image" Target="../media/image113.png"/><Relationship Id="rId5" Type="http://schemas.openxmlformats.org/officeDocument/2006/relationships/image" Target="../media/image107.png"/><Relationship Id="rId15" Type="http://schemas.openxmlformats.org/officeDocument/2006/relationships/image" Target="../media/image117.png"/><Relationship Id="rId10" Type="http://schemas.openxmlformats.org/officeDocument/2006/relationships/image" Target="../media/image112.png"/><Relationship Id="rId19" Type="http://schemas.openxmlformats.org/officeDocument/2006/relationships/hyperlink" Target="https://snap.stanford.edu/data/ego-Facebook.html" TargetMode="External"/><Relationship Id="rId4" Type="http://schemas.openxmlformats.org/officeDocument/2006/relationships/image" Target="../media/image8.png"/><Relationship Id="rId9" Type="http://schemas.openxmlformats.org/officeDocument/2006/relationships/image" Target="../media/image111.png"/><Relationship Id="rId14" Type="http://schemas.openxmlformats.org/officeDocument/2006/relationships/image" Target="../media/image11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png"/><Relationship Id="rId13" Type="http://schemas.openxmlformats.org/officeDocument/2006/relationships/image" Target="../media/image129.png"/><Relationship Id="rId18" Type="http://schemas.openxmlformats.org/officeDocument/2006/relationships/image" Target="../media/image134.png"/><Relationship Id="rId3" Type="http://schemas.openxmlformats.org/officeDocument/2006/relationships/image" Target="../media/image120.png"/><Relationship Id="rId7" Type="http://schemas.openxmlformats.org/officeDocument/2006/relationships/image" Target="../media/image123.png"/><Relationship Id="rId12" Type="http://schemas.openxmlformats.org/officeDocument/2006/relationships/image" Target="../media/image128.png"/><Relationship Id="rId17" Type="http://schemas.openxmlformats.org/officeDocument/2006/relationships/image" Target="../media/image133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132.png"/><Relationship Id="rId20" Type="http://schemas.openxmlformats.org/officeDocument/2006/relationships/image" Target="../media/image7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2.png"/><Relationship Id="rId11" Type="http://schemas.openxmlformats.org/officeDocument/2006/relationships/image" Target="../media/image127.png"/><Relationship Id="rId5" Type="http://schemas.openxmlformats.org/officeDocument/2006/relationships/image" Target="../media/image121.png"/><Relationship Id="rId15" Type="http://schemas.openxmlformats.org/officeDocument/2006/relationships/image" Target="../media/image131.png"/><Relationship Id="rId10" Type="http://schemas.openxmlformats.org/officeDocument/2006/relationships/image" Target="../media/image126.png"/><Relationship Id="rId19" Type="http://schemas.openxmlformats.org/officeDocument/2006/relationships/image" Target="../media/image135.png"/><Relationship Id="rId4" Type="http://schemas.openxmlformats.org/officeDocument/2006/relationships/image" Target="../media/image8.png"/><Relationship Id="rId9" Type="http://schemas.openxmlformats.org/officeDocument/2006/relationships/image" Target="../media/image125.png"/><Relationship Id="rId14" Type="http://schemas.openxmlformats.org/officeDocument/2006/relationships/image" Target="../media/image13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png"/><Relationship Id="rId13" Type="http://schemas.openxmlformats.org/officeDocument/2006/relationships/image" Target="../media/image144.png"/><Relationship Id="rId18" Type="http://schemas.openxmlformats.org/officeDocument/2006/relationships/image" Target="../media/image149.png"/><Relationship Id="rId26" Type="http://schemas.openxmlformats.org/officeDocument/2006/relationships/image" Target="../media/image157.png"/><Relationship Id="rId3" Type="http://schemas.openxmlformats.org/officeDocument/2006/relationships/image" Target="../media/image7.png"/><Relationship Id="rId21" Type="http://schemas.openxmlformats.org/officeDocument/2006/relationships/image" Target="../media/image152.png"/><Relationship Id="rId7" Type="http://schemas.openxmlformats.org/officeDocument/2006/relationships/image" Target="../media/image138.png"/><Relationship Id="rId12" Type="http://schemas.openxmlformats.org/officeDocument/2006/relationships/image" Target="../media/image143.png"/><Relationship Id="rId17" Type="http://schemas.openxmlformats.org/officeDocument/2006/relationships/image" Target="../media/image148.png"/><Relationship Id="rId25" Type="http://schemas.openxmlformats.org/officeDocument/2006/relationships/image" Target="../media/image156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147.png"/><Relationship Id="rId20" Type="http://schemas.openxmlformats.org/officeDocument/2006/relationships/image" Target="../media/image151.png"/><Relationship Id="rId29" Type="http://schemas.openxmlformats.org/officeDocument/2006/relationships/image" Target="../media/image16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7.png"/><Relationship Id="rId11" Type="http://schemas.openxmlformats.org/officeDocument/2006/relationships/image" Target="../media/image142.png"/><Relationship Id="rId24" Type="http://schemas.openxmlformats.org/officeDocument/2006/relationships/image" Target="../media/image155.png"/><Relationship Id="rId5" Type="http://schemas.openxmlformats.org/officeDocument/2006/relationships/image" Target="../media/image136.png"/><Relationship Id="rId15" Type="http://schemas.openxmlformats.org/officeDocument/2006/relationships/image" Target="../media/image146.png"/><Relationship Id="rId23" Type="http://schemas.openxmlformats.org/officeDocument/2006/relationships/image" Target="../media/image154.png"/><Relationship Id="rId28" Type="http://schemas.openxmlformats.org/officeDocument/2006/relationships/image" Target="../media/image159.png"/><Relationship Id="rId10" Type="http://schemas.openxmlformats.org/officeDocument/2006/relationships/image" Target="../media/image141.png"/><Relationship Id="rId19" Type="http://schemas.openxmlformats.org/officeDocument/2006/relationships/image" Target="../media/image150.png"/><Relationship Id="rId31" Type="http://schemas.openxmlformats.org/officeDocument/2006/relationships/image" Target="../media/image79.png"/><Relationship Id="rId4" Type="http://schemas.openxmlformats.org/officeDocument/2006/relationships/image" Target="../media/image8.png"/><Relationship Id="rId9" Type="http://schemas.openxmlformats.org/officeDocument/2006/relationships/image" Target="../media/image140.png"/><Relationship Id="rId14" Type="http://schemas.openxmlformats.org/officeDocument/2006/relationships/image" Target="../media/image145.png"/><Relationship Id="rId22" Type="http://schemas.openxmlformats.org/officeDocument/2006/relationships/image" Target="../media/image153.png"/><Relationship Id="rId27" Type="http://schemas.openxmlformats.org/officeDocument/2006/relationships/image" Target="../media/image158.png"/><Relationship Id="rId30" Type="http://schemas.openxmlformats.org/officeDocument/2006/relationships/image" Target="../media/image16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6.png"/><Relationship Id="rId13" Type="http://schemas.openxmlformats.org/officeDocument/2006/relationships/image" Target="../media/image171.png"/><Relationship Id="rId18" Type="http://schemas.openxmlformats.org/officeDocument/2006/relationships/image" Target="../media/image176.png"/><Relationship Id="rId26" Type="http://schemas.openxmlformats.org/officeDocument/2006/relationships/image" Target="../media/image184.png"/><Relationship Id="rId3" Type="http://schemas.openxmlformats.org/officeDocument/2006/relationships/image" Target="../media/image162.png"/><Relationship Id="rId21" Type="http://schemas.openxmlformats.org/officeDocument/2006/relationships/image" Target="../media/image179.png"/><Relationship Id="rId7" Type="http://schemas.openxmlformats.org/officeDocument/2006/relationships/image" Target="../media/image165.png"/><Relationship Id="rId12" Type="http://schemas.openxmlformats.org/officeDocument/2006/relationships/image" Target="../media/image170.png"/><Relationship Id="rId17" Type="http://schemas.openxmlformats.org/officeDocument/2006/relationships/image" Target="../media/image175.png"/><Relationship Id="rId25" Type="http://schemas.openxmlformats.org/officeDocument/2006/relationships/image" Target="../media/image183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174.png"/><Relationship Id="rId20" Type="http://schemas.openxmlformats.org/officeDocument/2006/relationships/image" Target="../media/image178.png"/><Relationship Id="rId29" Type="http://schemas.openxmlformats.org/officeDocument/2006/relationships/image" Target="../media/image18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4.png"/><Relationship Id="rId11" Type="http://schemas.openxmlformats.org/officeDocument/2006/relationships/image" Target="../media/image169.png"/><Relationship Id="rId24" Type="http://schemas.openxmlformats.org/officeDocument/2006/relationships/image" Target="../media/image182.png"/><Relationship Id="rId5" Type="http://schemas.openxmlformats.org/officeDocument/2006/relationships/image" Target="../media/image163.png"/><Relationship Id="rId15" Type="http://schemas.openxmlformats.org/officeDocument/2006/relationships/image" Target="../media/image173.png"/><Relationship Id="rId23" Type="http://schemas.openxmlformats.org/officeDocument/2006/relationships/image" Target="../media/image181.png"/><Relationship Id="rId28" Type="http://schemas.openxmlformats.org/officeDocument/2006/relationships/image" Target="../media/image186.png"/><Relationship Id="rId10" Type="http://schemas.openxmlformats.org/officeDocument/2006/relationships/image" Target="../media/image168.png"/><Relationship Id="rId19" Type="http://schemas.openxmlformats.org/officeDocument/2006/relationships/image" Target="../media/image177.png"/><Relationship Id="rId4" Type="http://schemas.openxmlformats.org/officeDocument/2006/relationships/image" Target="../media/image8.png"/><Relationship Id="rId9" Type="http://schemas.openxmlformats.org/officeDocument/2006/relationships/image" Target="../media/image167.png"/><Relationship Id="rId14" Type="http://schemas.openxmlformats.org/officeDocument/2006/relationships/image" Target="../media/image172.png"/><Relationship Id="rId22" Type="http://schemas.openxmlformats.org/officeDocument/2006/relationships/image" Target="../media/image180.png"/><Relationship Id="rId27" Type="http://schemas.openxmlformats.org/officeDocument/2006/relationships/image" Target="../media/image18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1.png"/><Relationship Id="rId13" Type="http://schemas.openxmlformats.org/officeDocument/2006/relationships/image" Target="../media/image196.png"/><Relationship Id="rId18" Type="http://schemas.openxmlformats.org/officeDocument/2006/relationships/image" Target="../media/image201.png"/><Relationship Id="rId26" Type="http://schemas.openxmlformats.org/officeDocument/2006/relationships/image" Target="../media/image209.png"/><Relationship Id="rId3" Type="http://schemas.openxmlformats.org/officeDocument/2006/relationships/image" Target="../media/image7.png"/><Relationship Id="rId21" Type="http://schemas.openxmlformats.org/officeDocument/2006/relationships/image" Target="../media/image204.png"/><Relationship Id="rId7" Type="http://schemas.openxmlformats.org/officeDocument/2006/relationships/image" Target="../media/image190.png"/><Relationship Id="rId12" Type="http://schemas.openxmlformats.org/officeDocument/2006/relationships/image" Target="../media/image195.png"/><Relationship Id="rId17" Type="http://schemas.openxmlformats.org/officeDocument/2006/relationships/image" Target="../media/image200.png"/><Relationship Id="rId25" Type="http://schemas.openxmlformats.org/officeDocument/2006/relationships/image" Target="../media/image208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199.png"/><Relationship Id="rId20" Type="http://schemas.openxmlformats.org/officeDocument/2006/relationships/image" Target="../media/image20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9.png"/><Relationship Id="rId11" Type="http://schemas.openxmlformats.org/officeDocument/2006/relationships/image" Target="../media/image194.png"/><Relationship Id="rId24" Type="http://schemas.openxmlformats.org/officeDocument/2006/relationships/image" Target="../media/image207.png"/><Relationship Id="rId5" Type="http://schemas.openxmlformats.org/officeDocument/2006/relationships/image" Target="../media/image188.png"/><Relationship Id="rId15" Type="http://schemas.openxmlformats.org/officeDocument/2006/relationships/image" Target="../media/image198.png"/><Relationship Id="rId23" Type="http://schemas.openxmlformats.org/officeDocument/2006/relationships/image" Target="../media/image206.png"/><Relationship Id="rId28" Type="http://schemas.openxmlformats.org/officeDocument/2006/relationships/image" Target="../media/image211.png"/><Relationship Id="rId10" Type="http://schemas.openxmlformats.org/officeDocument/2006/relationships/image" Target="../media/image193.png"/><Relationship Id="rId19" Type="http://schemas.openxmlformats.org/officeDocument/2006/relationships/image" Target="../media/image202.png"/><Relationship Id="rId4" Type="http://schemas.openxmlformats.org/officeDocument/2006/relationships/image" Target="../media/image8.png"/><Relationship Id="rId9" Type="http://schemas.openxmlformats.org/officeDocument/2006/relationships/image" Target="../media/image192.png"/><Relationship Id="rId14" Type="http://schemas.openxmlformats.org/officeDocument/2006/relationships/image" Target="../media/image197.png"/><Relationship Id="rId22" Type="http://schemas.openxmlformats.org/officeDocument/2006/relationships/image" Target="../media/image205.png"/><Relationship Id="rId27" Type="http://schemas.openxmlformats.org/officeDocument/2006/relationships/image" Target="../media/image21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5.png"/><Relationship Id="rId13" Type="http://schemas.openxmlformats.org/officeDocument/2006/relationships/hyperlink" Target="https://snap.stanford.edu/index.html" TargetMode="External"/><Relationship Id="rId3" Type="http://schemas.openxmlformats.org/officeDocument/2006/relationships/image" Target="../media/image7.png"/><Relationship Id="rId7" Type="http://schemas.openxmlformats.org/officeDocument/2006/relationships/image" Target="../media/image214.png"/><Relationship Id="rId12" Type="http://schemas.openxmlformats.org/officeDocument/2006/relationships/image" Target="../media/image2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3.png"/><Relationship Id="rId11" Type="http://schemas.openxmlformats.org/officeDocument/2006/relationships/image" Target="../media/image218.png"/><Relationship Id="rId5" Type="http://schemas.openxmlformats.org/officeDocument/2006/relationships/image" Target="../media/image212.png"/><Relationship Id="rId15" Type="http://schemas.openxmlformats.org/officeDocument/2006/relationships/image" Target="../media/image54.png"/><Relationship Id="rId10" Type="http://schemas.openxmlformats.org/officeDocument/2006/relationships/image" Target="../media/image217.png"/><Relationship Id="rId4" Type="http://schemas.openxmlformats.org/officeDocument/2006/relationships/image" Target="../media/image8.png"/><Relationship Id="rId9" Type="http://schemas.openxmlformats.org/officeDocument/2006/relationships/image" Target="../media/image216.png"/><Relationship Id="rId14" Type="http://schemas.openxmlformats.org/officeDocument/2006/relationships/hyperlink" Target="https://www.youtube.com/watch?v=V_liCwE_ZoI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0350" y="2828925"/>
            <a:ext cx="914400" cy="190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7150" y="2667000"/>
            <a:ext cx="323850" cy="3429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3400" y="2828925"/>
            <a:ext cx="914400" cy="190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5075" y="4381500"/>
            <a:ext cx="609600" cy="609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68400" y="4381500"/>
            <a:ext cx="609600" cy="6096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9951" y="4381500"/>
            <a:ext cx="609600" cy="609600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1324371" y="1104900"/>
            <a:ext cx="9549408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500"/>
              </a:lnSpc>
              <a:buNone/>
            </a:pPr>
            <a:r>
              <a:rPr lang="en-US" sz="5400" b="1" dirty="0">
                <a:solidFill>
                  <a:srgbClr val="581C87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SALSA</a:t>
            </a: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1"/>
          <p:cNvSpPr/>
          <p:nvPr/>
        </p:nvSpPr>
        <p:spPr>
          <a:xfrm>
            <a:off x="1324371" y="1905000"/>
            <a:ext cx="9549408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3000"/>
              </a:lnSpc>
            </a:pPr>
            <a:r>
              <a:rPr lang="en-US" sz="2700" b="1" dirty="0">
                <a:solidFill>
                  <a:srgbClr val="15803D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Stochastic Approach for Link-Structure Analysis</a:t>
            </a:r>
          </a:p>
        </p:txBody>
      </p:sp>
      <p:sp>
        <p:nvSpPr>
          <p:cNvPr id="12" name="Text 2"/>
          <p:cNvSpPr/>
          <p:nvPr/>
        </p:nvSpPr>
        <p:spPr>
          <a:xfrm>
            <a:off x="3251664" y="3400425"/>
            <a:ext cx="5962249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A comprehensive exploration of fundamental algorithms for web search ranking and link structure analysis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3"/>
          <p:cNvSpPr/>
          <p:nvPr/>
        </p:nvSpPr>
        <p:spPr>
          <a:xfrm>
            <a:off x="4742373" y="4572000"/>
            <a:ext cx="27485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PR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4"/>
          <p:cNvSpPr/>
          <p:nvPr/>
        </p:nvSpPr>
        <p:spPr>
          <a:xfrm>
            <a:off x="4429997" y="5067300"/>
            <a:ext cx="89975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581C87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PageRank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5"/>
          <p:cNvSpPr/>
          <p:nvPr/>
        </p:nvSpPr>
        <p:spPr>
          <a:xfrm>
            <a:off x="6934420" y="4572000"/>
            <a:ext cx="4775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HITS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6"/>
          <p:cNvSpPr/>
          <p:nvPr/>
        </p:nvSpPr>
        <p:spPr>
          <a:xfrm>
            <a:off x="6963531" y="5067300"/>
            <a:ext cx="41933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166534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HITS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7"/>
          <p:cNvSpPr/>
          <p:nvPr/>
        </p:nvSpPr>
        <p:spPr>
          <a:xfrm>
            <a:off x="5693117" y="4572000"/>
            <a:ext cx="66311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SALSA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8"/>
          <p:cNvSpPr/>
          <p:nvPr/>
        </p:nvSpPr>
        <p:spPr>
          <a:xfrm>
            <a:off x="5729178" y="5067300"/>
            <a:ext cx="59114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EA580C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SALSA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9"/>
          <p:cNvSpPr/>
          <p:nvPr/>
        </p:nvSpPr>
        <p:spPr>
          <a:xfrm>
            <a:off x="3075" y="6324600"/>
            <a:ext cx="12192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7030A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Justin-Marian Popescu | DMDW</a:t>
            </a:r>
            <a:endParaRPr lang="en-US" sz="14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2400300"/>
            <a:ext cx="228600" cy="25717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3886200"/>
            <a:ext cx="257175" cy="257175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581C87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Introduction and Problem Context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"/>
          <p:cNvSpPr/>
          <p:nvPr/>
        </p:nvSpPr>
        <p:spPr>
          <a:xfrm>
            <a:off x="381000" y="1234071"/>
            <a:ext cx="5854700" cy="800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16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Link analysis algorithms assess the significance of nodes in networks through their connections, offering key methods for web search ranking and structural network analysis.</a:t>
            </a:r>
          </a:p>
        </p:txBody>
      </p:sp>
      <p:sp>
        <p:nvSpPr>
          <p:cNvPr id="14" name="Text 2"/>
          <p:cNvSpPr/>
          <p:nvPr/>
        </p:nvSpPr>
        <p:spPr>
          <a:xfrm>
            <a:off x="685800" y="2362200"/>
            <a:ext cx="65532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6B21A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Web Search Applications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3"/>
          <p:cNvSpPr/>
          <p:nvPr/>
        </p:nvSpPr>
        <p:spPr>
          <a:xfrm>
            <a:off x="419100" y="2790825"/>
            <a:ext cx="7818120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400" b="1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PageRank</a:t>
            </a: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 formed the foundation of Google's search algorithm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4"/>
          <p:cNvSpPr/>
          <p:nvPr/>
        </p:nvSpPr>
        <p:spPr>
          <a:xfrm>
            <a:off x="419100" y="3362325"/>
            <a:ext cx="7818120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400" b="1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HITS</a:t>
            </a: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 provides topic-specific search by distinguishing hubs and authorities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5"/>
          <p:cNvSpPr/>
          <p:nvPr/>
        </p:nvSpPr>
        <p:spPr>
          <a:xfrm>
            <a:off x="419100" y="3076576"/>
            <a:ext cx="7818120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400" b="1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SALSA</a:t>
            </a: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 combines benefits of both approaches for community discovery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6"/>
          <p:cNvSpPr/>
          <p:nvPr/>
        </p:nvSpPr>
        <p:spPr>
          <a:xfrm>
            <a:off x="714375" y="3848100"/>
            <a:ext cx="786384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6B21A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Graph Theory Applications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7"/>
          <p:cNvSpPr/>
          <p:nvPr/>
        </p:nvSpPr>
        <p:spPr>
          <a:xfrm>
            <a:off x="419100" y="4276725"/>
            <a:ext cx="7818120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400" b="1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Centrality measurement </a:t>
            </a: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for network analysis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8"/>
          <p:cNvSpPr/>
          <p:nvPr/>
        </p:nvSpPr>
        <p:spPr>
          <a:xfrm>
            <a:off x="419100" y="4886324"/>
            <a:ext cx="7818120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400" b="1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Community detection </a:t>
            </a: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in social networks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9"/>
          <p:cNvSpPr/>
          <p:nvPr/>
        </p:nvSpPr>
        <p:spPr>
          <a:xfrm>
            <a:off x="419100" y="4581525"/>
            <a:ext cx="7818120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400" b="1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Identification of authoritative sources </a:t>
            </a: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in information networks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15"/>
          <p:cNvSpPr/>
          <p:nvPr/>
        </p:nvSpPr>
        <p:spPr>
          <a:xfrm>
            <a:off x="381000" y="6286500"/>
            <a:ext cx="428732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50" b="1" dirty="0">
                <a:solidFill>
                  <a:srgbClr val="6B21A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SALSA</a:t>
            </a:r>
            <a:r>
              <a:rPr lang="en-US" sz="1050" dirty="0">
                <a:solidFill>
                  <a:srgbClr val="6B728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 (</a:t>
            </a:r>
            <a:r>
              <a:rPr lang="en-US" sz="1050" b="1" dirty="0">
                <a:solidFill>
                  <a:srgbClr val="15803D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Stochastic Approach for Link-Structure Analysis)</a:t>
            </a:r>
          </a:p>
        </p:txBody>
      </p:sp>
      <p:sp>
        <p:nvSpPr>
          <p:cNvPr id="28" name="Text 16"/>
          <p:cNvSpPr/>
          <p:nvPr/>
        </p:nvSpPr>
        <p:spPr>
          <a:xfrm>
            <a:off x="11426726" y="6286500"/>
            <a:ext cx="46112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2 / 17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1EF17F80-C0E3-B596-C691-5237222099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87168" y="511176"/>
            <a:ext cx="3405104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133475"/>
            <a:ext cx="257175" cy="228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2038580"/>
            <a:ext cx="6553200" cy="736957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950" y="3182123"/>
            <a:ext cx="228600" cy="228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1950" y="3572648"/>
            <a:ext cx="6553200" cy="3810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000" y="4676775"/>
            <a:ext cx="228600" cy="2286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5067300"/>
            <a:ext cx="6553200" cy="3810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00900" y="3091298"/>
            <a:ext cx="4705350" cy="161019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53300" y="3155024"/>
            <a:ext cx="142875" cy="1905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00899" y="4931664"/>
            <a:ext cx="4705349" cy="1427767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72350" y="5140231"/>
            <a:ext cx="190500" cy="190500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581C87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PageRank Formulation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"/>
          <p:cNvSpPr/>
          <p:nvPr/>
        </p:nvSpPr>
        <p:spPr>
          <a:xfrm>
            <a:off x="714375" y="1104900"/>
            <a:ext cx="65532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6B21A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Definition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2"/>
          <p:cNvSpPr/>
          <p:nvPr/>
        </p:nvSpPr>
        <p:spPr>
          <a:xfrm>
            <a:off x="381000" y="1524000"/>
            <a:ext cx="6553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Given a directed graph with adjacency matrix                       , let the row-stochastic transition matrix </a:t>
            </a:r>
            <a:r>
              <a:rPr lang="en-US" sz="1400" b="1" i="1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P</a:t>
            </a: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 be: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3"/>
          <p:cNvSpPr/>
          <p:nvPr/>
        </p:nvSpPr>
        <p:spPr>
          <a:xfrm>
            <a:off x="381000" y="1752600"/>
            <a:ext cx="6553200" cy="723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1800"/>
              </a:lnSpc>
            </a:pPr>
            <a:endParaRPr lang="en-US" sz="1200" i="1" dirty="0">
              <a:solidFill>
                <a:srgbClr val="000000"/>
              </a:solidFill>
              <a:latin typeface="Times New Roman" panose="02020603050405020304" pitchFamily="18" charset="0"/>
              <a:ea typeface="Times New Roman" pitchFamily="34" charset="-122"/>
              <a:cs typeface="Times New Roman" panose="02020603050405020304" pitchFamily="18" charset="0"/>
            </a:endParaRPr>
          </a:p>
        </p:txBody>
      </p:sp>
      <p:sp>
        <p:nvSpPr>
          <p:cNvPr id="20" name="Text 4"/>
          <p:cNvSpPr/>
          <p:nvPr/>
        </p:nvSpPr>
        <p:spPr>
          <a:xfrm>
            <a:off x="381000" y="2854086"/>
            <a:ext cx="78638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where </a:t>
            </a:r>
            <a:r>
              <a:rPr lang="en-US" sz="1400" b="1" i="1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di+</a:t>
            </a:r>
            <a:r>
              <a:rPr lang="en-US" sz="1400" i="1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is the out-degree of node </a:t>
            </a:r>
            <a:r>
              <a:rPr lang="en-US" sz="1400" b="1" i="1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i</a:t>
            </a: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5"/>
          <p:cNvSpPr/>
          <p:nvPr/>
        </p:nvSpPr>
        <p:spPr>
          <a:xfrm>
            <a:off x="666750" y="3153548"/>
            <a:ext cx="65532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6B21A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Damped Random Walk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6"/>
          <p:cNvSpPr/>
          <p:nvPr/>
        </p:nvSpPr>
        <p:spPr>
          <a:xfrm>
            <a:off x="381000" y="3467100"/>
            <a:ext cx="65532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7"/>
          <p:cNvSpPr/>
          <p:nvPr/>
        </p:nvSpPr>
        <p:spPr>
          <a:xfrm>
            <a:off x="381000" y="4050374"/>
            <a:ext cx="675322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where </a:t>
            </a:r>
            <a:r>
              <a:rPr lang="en-US" sz="1400" b="1" i="1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α ∈ (0, 1) </a:t>
            </a: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is the damping factor </a:t>
            </a:r>
            <a:r>
              <a:rPr lang="en-US" sz="1400" b="1" i="1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(usually 0.85), </a:t>
            </a:r>
            <a:b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and </a:t>
            </a:r>
            <a:r>
              <a:rPr lang="en-US" i="1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v </a:t>
            </a: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(vector) is the teleportation vector (often uniform: </a:t>
            </a:r>
            <a:r>
              <a:rPr lang="en-US" sz="2000" b="1" i="1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v</a:t>
            </a:r>
            <a:r>
              <a:rPr lang="en-US" sz="1200" b="1" i="1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i</a:t>
            </a:r>
            <a:r>
              <a:rPr lang="en-US" sz="1400" b="1" i="1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 = 1/n</a:t>
            </a: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).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8"/>
          <p:cNvSpPr/>
          <p:nvPr/>
        </p:nvSpPr>
        <p:spPr>
          <a:xfrm>
            <a:off x="685800" y="4648200"/>
            <a:ext cx="65532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6B21A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Iterative Computation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9"/>
          <p:cNvSpPr/>
          <p:nvPr/>
        </p:nvSpPr>
        <p:spPr>
          <a:xfrm>
            <a:off x="381000" y="5067300"/>
            <a:ext cx="65532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10"/>
          <p:cNvSpPr/>
          <p:nvPr/>
        </p:nvSpPr>
        <p:spPr>
          <a:xfrm>
            <a:off x="381000" y="5562600"/>
            <a:ext cx="6553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Convergence is guaranteed because the matrix M</a:t>
            </a:r>
            <a:b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is stochastic, irreducible, and aperiodic.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11"/>
          <p:cNvSpPr/>
          <p:nvPr/>
        </p:nvSpPr>
        <p:spPr>
          <a:xfrm>
            <a:off x="7572375" y="3116924"/>
            <a:ext cx="4267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B21A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Key Properties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12"/>
          <p:cNvSpPr/>
          <p:nvPr/>
        </p:nvSpPr>
        <p:spPr>
          <a:xfrm>
            <a:off x="7391400" y="3437605"/>
            <a:ext cx="4419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Unique stationary distribution (because of teleportation)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13"/>
          <p:cNvSpPr/>
          <p:nvPr/>
        </p:nvSpPr>
        <p:spPr>
          <a:xfrm>
            <a:off x="7391400" y="3796386"/>
            <a:ext cx="3856567" cy="2349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Captures global influence, not just local structure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14"/>
          <p:cNvSpPr/>
          <p:nvPr/>
        </p:nvSpPr>
        <p:spPr>
          <a:xfrm>
            <a:off x="7391400" y="4146598"/>
            <a:ext cx="3765698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Equivalent to eigenvector centrality on the </a:t>
            </a:r>
            <a:r>
              <a:rPr lang="en-US" sz="1400" b="1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Google matrix M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15"/>
          <p:cNvSpPr/>
          <p:nvPr/>
        </p:nvSpPr>
        <p:spPr>
          <a:xfrm>
            <a:off x="7639050" y="5102131"/>
            <a:ext cx="4267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B21A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Interpretation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16"/>
          <p:cNvSpPr/>
          <p:nvPr/>
        </p:nvSpPr>
        <p:spPr>
          <a:xfrm>
            <a:off x="7372350" y="5445031"/>
            <a:ext cx="4438650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i="1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π</a:t>
            </a:r>
            <a:r>
              <a:rPr lang="en-US" sz="1200" b="1" i="1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i</a:t>
            </a:r>
            <a:r>
              <a:rPr lang="en-US" sz="1400" b="1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= steady-state probability that a random surfer visits node </a:t>
            </a:r>
            <a:r>
              <a:rPr lang="en-US" sz="1400" b="1" i="1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i.</a:t>
            </a: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 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A node's PageRank is high if many important nodes link to it, forming a recursive definition of importance.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17"/>
          <p:cNvSpPr/>
          <p:nvPr/>
        </p:nvSpPr>
        <p:spPr>
          <a:xfrm>
            <a:off x="381000" y="6381750"/>
            <a:ext cx="428732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50" b="1" dirty="0">
                <a:solidFill>
                  <a:srgbClr val="6B21A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SALSA</a:t>
            </a:r>
            <a:r>
              <a:rPr lang="en-US" sz="1050" dirty="0">
                <a:solidFill>
                  <a:srgbClr val="6B728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 (</a:t>
            </a:r>
            <a:r>
              <a:rPr lang="en-US" sz="1050" b="1" dirty="0">
                <a:solidFill>
                  <a:srgbClr val="15803D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Stochastic Approach for Link-Structure Analysis)</a:t>
            </a:r>
          </a:p>
        </p:txBody>
      </p:sp>
      <p:sp>
        <p:nvSpPr>
          <p:cNvPr id="34" name="Text 18"/>
          <p:cNvSpPr/>
          <p:nvPr/>
        </p:nvSpPr>
        <p:spPr>
          <a:xfrm>
            <a:off x="11445121" y="6588031"/>
            <a:ext cx="46112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4 / 17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63EAB67-B3B1-A837-85DE-12BB8DED383E}"/>
              </a:ext>
            </a:extLst>
          </p:cNvPr>
          <p:cNvSpPr txBox="1"/>
          <p:nvPr/>
        </p:nvSpPr>
        <p:spPr>
          <a:xfrm>
            <a:off x="6592529" y="2973275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69789FB-3501-F30B-0ABD-A37532FCB1A5}"/>
              </a:ext>
            </a:extLst>
          </p:cNvPr>
          <p:cNvSpPr txBox="1"/>
          <p:nvPr/>
        </p:nvSpPr>
        <p:spPr>
          <a:xfrm>
            <a:off x="2132617" y="186175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7DBAAB81-0F1D-4799-DE50-B65B526E170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444506" y="2037181"/>
            <a:ext cx="1749936" cy="745753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AA7E3E91-7F05-4118-979D-A02EF1D32103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650225" y="1537010"/>
            <a:ext cx="994041" cy="173957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8358EF18-8E41-ED33-77F5-F99555911A97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769962" y="3615576"/>
            <a:ext cx="1377283" cy="24527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5AEB7015-4D04-B250-36B6-E8D7DE8655E7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649438" y="5086473"/>
            <a:ext cx="1618332" cy="327763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4FDF9E75-5911-95CA-D6E8-D706D5860654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720981" y="234950"/>
            <a:ext cx="3526986" cy="26730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7705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133475"/>
            <a:ext cx="228600" cy="228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531" y="2546311"/>
            <a:ext cx="228600" cy="228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0423" y="4104593"/>
            <a:ext cx="228600" cy="228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91996" y="4244352"/>
            <a:ext cx="5715000" cy="143102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77538" y="4406598"/>
            <a:ext cx="142875" cy="157716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581C87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PageRank Algorithm Overview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"/>
          <p:cNvSpPr/>
          <p:nvPr/>
        </p:nvSpPr>
        <p:spPr>
          <a:xfrm>
            <a:off x="685800" y="1104900"/>
            <a:ext cx="54102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6B21A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What is PageRank?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2"/>
          <p:cNvSpPr/>
          <p:nvPr/>
        </p:nvSpPr>
        <p:spPr>
          <a:xfrm>
            <a:off x="381000" y="1602411"/>
            <a:ext cx="39370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PageRank measures the global importance of </a:t>
            </a:r>
            <a:br>
              <a:rPr lang="en-US" sz="16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web pages based on the probability that a random surfer lands on them.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3"/>
          <p:cNvSpPr/>
          <p:nvPr/>
        </p:nvSpPr>
        <p:spPr>
          <a:xfrm>
            <a:off x="651331" y="2517736"/>
            <a:ext cx="54102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6B21A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Random Surfer Model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4"/>
          <p:cNvSpPr/>
          <p:nvPr/>
        </p:nvSpPr>
        <p:spPr>
          <a:xfrm>
            <a:off x="384631" y="2936836"/>
            <a:ext cx="64465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Models a user who randomly follows hyperlinks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5"/>
          <p:cNvSpPr/>
          <p:nvPr/>
        </p:nvSpPr>
        <p:spPr>
          <a:xfrm>
            <a:off x="384631" y="3241636"/>
            <a:ext cx="64465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Occasionally jumps to a random page </a:t>
            </a:r>
            <a:b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(teleportation)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6"/>
          <p:cNvSpPr/>
          <p:nvPr/>
        </p:nvSpPr>
        <p:spPr>
          <a:xfrm>
            <a:off x="384631" y="3546436"/>
            <a:ext cx="64465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l">
              <a:lnSpc>
                <a:spcPts val="1800"/>
              </a:lnSpc>
              <a:buSzPct val="100000"/>
            </a:pP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7"/>
          <p:cNvSpPr/>
          <p:nvPr/>
        </p:nvSpPr>
        <p:spPr>
          <a:xfrm>
            <a:off x="398523" y="3736479"/>
            <a:ext cx="64465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Ensures every node can be reached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8"/>
          <p:cNvSpPr/>
          <p:nvPr/>
        </p:nvSpPr>
        <p:spPr>
          <a:xfrm>
            <a:off x="665223" y="4076018"/>
            <a:ext cx="54102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6B21A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Global Importance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9"/>
          <p:cNvSpPr/>
          <p:nvPr/>
        </p:nvSpPr>
        <p:spPr>
          <a:xfrm>
            <a:off x="398523" y="4495118"/>
            <a:ext cx="64465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Captures global influence, not just local structure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0"/>
          <p:cNvSpPr/>
          <p:nvPr/>
        </p:nvSpPr>
        <p:spPr>
          <a:xfrm>
            <a:off x="398523" y="4799918"/>
            <a:ext cx="64465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Recursive definition of importance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1"/>
          <p:cNvSpPr/>
          <p:nvPr/>
        </p:nvSpPr>
        <p:spPr>
          <a:xfrm>
            <a:off x="398523" y="5104718"/>
            <a:ext cx="64465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Forms the basis of Google's search algorithm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15"/>
          <p:cNvSpPr/>
          <p:nvPr/>
        </p:nvSpPr>
        <p:spPr>
          <a:xfrm>
            <a:off x="5939671" y="4353247"/>
            <a:ext cx="5410200" cy="22080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B21A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Key Insight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16"/>
          <p:cNvSpPr/>
          <p:nvPr/>
        </p:nvSpPr>
        <p:spPr>
          <a:xfrm>
            <a:off x="5677538" y="5145369"/>
            <a:ext cx="5410200" cy="37851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A node's PageRank is high if many important nodes link to it, forming a recursive definition of importance.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17"/>
          <p:cNvSpPr/>
          <p:nvPr/>
        </p:nvSpPr>
        <p:spPr>
          <a:xfrm>
            <a:off x="381000" y="6305550"/>
            <a:ext cx="428732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50" b="1" dirty="0">
                <a:solidFill>
                  <a:srgbClr val="6B21A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SALSA</a:t>
            </a:r>
            <a:r>
              <a:rPr lang="en-US" sz="1050" dirty="0">
                <a:solidFill>
                  <a:srgbClr val="6B728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 (</a:t>
            </a:r>
            <a:r>
              <a:rPr lang="en-US" sz="1050" b="1" dirty="0">
                <a:solidFill>
                  <a:srgbClr val="15803D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Stochastic Approach for Link-Structure Analysis)</a:t>
            </a:r>
          </a:p>
        </p:txBody>
      </p:sp>
      <p:sp>
        <p:nvSpPr>
          <p:cNvPr id="31" name="Text 18"/>
          <p:cNvSpPr/>
          <p:nvPr/>
        </p:nvSpPr>
        <p:spPr>
          <a:xfrm>
            <a:off x="11349871" y="6400800"/>
            <a:ext cx="46112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3 / 17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2">
            <a:extLst>
              <a:ext uri="{FF2B5EF4-FFF2-40B4-BE49-F238E27FC236}">
                <a16:creationId xmlns:a16="http://schemas.microsoft.com/office/drawing/2014/main" id="{FC30222D-F7B2-4596-1486-80D63E884B1C}"/>
              </a:ext>
            </a:extLst>
          </p:cNvPr>
          <p:cNvSpPr/>
          <p:nvPr/>
        </p:nvSpPr>
        <p:spPr>
          <a:xfrm>
            <a:off x="5677538" y="4757417"/>
            <a:ext cx="5410200" cy="23444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For the added edges must be multiplied with (1- α) and for the existing ones with α.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AD4726CB-D5CB-8680-1227-0F52FCCBBE4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99000" y="1675134"/>
            <a:ext cx="7232650" cy="2211086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57BAD880-89BF-2C23-E320-A0F452781CF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99000" y="3436888"/>
            <a:ext cx="256140" cy="354656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1885B7D6-8895-D335-AB0D-11E766DE75D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96546" y="3425860"/>
            <a:ext cx="295547" cy="354656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949ACB9B-2665-D220-9CA6-08A06BF4318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69471" y="3483866"/>
            <a:ext cx="734636" cy="3148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1247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067" y="1800225"/>
            <a:ext cx="285750" cy="228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2152650"/>
            <a:ext cx="5600700" cy="6477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2266950"/>
            <a:ext cx="190500" cy="190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2952750"/>
            <a:ext cx="5600700" cy="6477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400" y="3067050"/>
            <a:ext cx="190500" cy="190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1000" y="3752850"/>
            <a:ext cx="5600700" cy="6477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2925" y="3829050"/>
            <a:ext cx="190500" cy="1905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1000" y="4552950"/>
            <a:ext cx="5600700" cy="6477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3400" y="4667250"/>
            <a:ext cx="171450" cy="190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65984" y="1784002"/>
            <a:ext cx="228600" cy="228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149817" y="2165002"/>
            <a:ext cx="5600700" cy="6477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02217" y="2279302"/>
            <a:ext cx="190500" cy="1905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149817" y="2965102"/>
            <a:ext cx="5600700" cy="6477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02217" y="3079402"/>
            <a:ext cx="219075" cy="190500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581C87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PageRank Properties and Applications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"/>
          <p:cNvSpPr/>
          <p:nvPr/>
        </p:nvSpPr>
        <p:spPr>
          <a:xfrm>
            <a:off x="516017" y="1771650"/>
            <a:ext cx="56007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6B21A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Key Properties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"/>
          <p:cNvSpPr/>
          <p:nvPr/>
        </p:nvSpPr>
        <p:spPr>
          <a:xfrm>
            <a:off x="800100" y="2228850"/>
            <a:ext cx="65379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7E22CE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Unique Stationary Distribution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3"/>
          <p:cNvSpPr/>
          <p:nvPr/>
        </p:nvSpPr>
        <p:spPr>
          <a:xfrm>
            <a:off x="533400" y="2495550"/>
            <a:ext cx="65379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Teleportation ensures a unique steady state probability vector.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4"/>
          <p:cNvSpPr/>
          <p:nvPr/>
        </p:nvSpPr>
        <p:spPr>
          <a:xfrm>
            <a:off x="800100" y="3028950"/>
            <a:ext cx="65379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7E22CE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Global Influence Measurement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5"/>
          <p:cNvSpPr/>
          <p:nvPr/>
        </p:nvSpPr>
        <p:spPr>
          <a:xfrm>
            <a:off x="533400" y="3295650"/>
            <a:ext cx="65379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Captures global importance, not just local neighborhood structure.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6"/>
          <p:cNvSpPr/>
          <p:nvPr/>
        </p:nvSpPr>
        <p:spPr>
          <a:xfrm>
            <a:off x="800100" y="3771900"/>
            <a:ext cx="54483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7E22CE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Convergence Guarantees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7"/>
          <p:cNvSpPr/>
          <p:nvPr/>
        </p:nvSpPr>
        <p:spPr>
          <a:xfrm>
            <a:off x="533400" y="4095750"/>
            <a:ext cx="65379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Matrix                                     is stochastic, irreducible, and aperiodic.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8"/>
          <p:cNvSpPr/>
          <p:nvPr/>
        </p:nvSpPr>
        <p:spPr>
          <a:xfrm>
            <a:off x="781050" y="4629150"/>
            <a:ext cx="54483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7E22CE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Eigenvector Centality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9"/>
          <p:cNvSpPr/>
          <p:nvPr/>
        </p:nvSpPr>
        <p:spPr>
          <a:xfrm>
            <a:off x="533400" y="4895850"/>
            <a:ext cx="65379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Equivalent to eigenvector centrality on the Google matrix M.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10"/>
          <p:cNvSpPr/>
          <p:nvPr/>
        </p:nvSpPr>
        <p:spPr>
          <a:xfrm>
            <a:off x="6270784" y="1742727"/>
            <a:ext cx="2557093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5803D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Practical Applications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11"/>
          <p:cNvSpPr/>
          <p:nvPr/>
        </p:nvSpPr>
        <p:spPr>
          <a:xfrm>
            <a:off x="6568917" y="2241202"/>
            <a:ext cx="54483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5803D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Web Search Ranking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12"/>
          <p:cNvSpPr/>
          <p:nvPr/>
        </p:nvSpPr>
        <p:spPr>
          <a:xfrm>
            <a:off x="6308884" y="3313901"/>
            <a:ext cx="65379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Foundation of Google's PageRank algorithm since 1998.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13"/>
          <p:cNvSpPr/>
          <p:nvPr/>
        </p:nvSpPr>
        <p:spPr>
          <a:xfrm>
            <a:off x="6597492" y="3041302"/>
            <a:ext cx="54483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5803D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Graph Centrality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14"/>
          <p:cNvSpPr/>
          <p:nvPr/>
        </p:nvSpPr>
        <p:spPr>
          <a:xfrm>
            <a:off x="6308884" y="2533179"/>
            <a:ext cx="65379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Measures importance of nodes in networks.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16"/>
          <p:cNvSpPr/>
          <p:nvPr/>
        </p:nvSpPr>
        <p:spPr>
          <a:xfrm>
            <a:off x="381000" y="6553200"/>
            <a:ext cx="428732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50" b="1" dirty="0">
                <a:solidFill>
                  <a:srgbClr val="6B21A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SALSA</a:t>
            </a:r>
            <a:r>
              <a:rPr lang="en-US" sz="1050" dirty="0">
                <a:solidFill>
                  <a:srgbClr val="6B728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 (</a:t>
            </a:r>
            <a:r>
              <a:rPr lang="en-US" sz="1050" b="1" dirty="0">
                <a:solidFill>
                  <a:srgbClr val="15803D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Stochastic Approach for Link-Structure Analysis)</a:t>
            </a:r>
          </a:p>
        </p:txBody>
      </p:sp>
      <p:sp>
        <p:nvSpPr>
          <p:cNvPr id="38" name="Text 17"/>
          <p:cNvSpPr/>
          <p:nvPr/>
        </p:nvSpPr>
        <p:spPr>
          <a:xfrm>
            <a:off x="11426726" y="6553200"/>
            <a:ext cx="46112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5 / 17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AE29447-D63C-F180-FFCB-80A9FEFCF27C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60081" y="4055694"/>
            <a:ext cx="1618332" cy="3277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06755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133475"/>
            <a:ext cx="228600" cy="228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2238375"/>
            <a:ext cx="285750" cy="228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3457575"/>
            <a:ext cx="228600" cy="2286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4562475"/>
            <a:ext cx="228600" cy="228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000" y="4953000"/>
            <a:ext cx="2628900" cy="685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62300" y="4953000"/>
            <a:ext cx="2628900" cy="685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19887" y="2514600"/>
            <a:ext cx="4984750" cy="15430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72287" y="2705100"/>
            <a:ext cx="142875" cy="190500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581C87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HITS Algorithm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"/>
          <p:cNvSpPr/>
          <p:nvPr/>
        </p:nvSpPr>
        <p:spPr>
          <a:xfrm>
            <a:off x="685800" y="1104900"/>
            <a:ext cx="54102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6B21A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Introduction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2"/>
          <p:cNvSpPr/>
          <p:nvPr/>
        </p:nvSpPr>
        <p:spPr>
          <a:xfrm>
            <a:off x="381000" y="1524000"/>
            <a:ext cx="55943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HITS (Hyperlink-Induced Topic Search) introduces a dual-role link analysis model in which each page is evaluated both as an authority and as a hub</a:t>
            </a:r>
            <a:r>
              <a:rPr lang="en-US" sz="1400" dirty="0"/>
              <a:t>.</a:t>
            </a:r>
          </a:p>
        </p:txBody>
      </p:sp>
      <p:sp>
        <p:nvSpPr>
          <p:cNvPr id="16" name="Text 3"/>
          <p:cNvSpPr/>
          <p:nvPr/>
        </p:nvSpPr>
        <p:spPr>
          <a:xfrm>
            <a:off x="742950" y="2209800"/>
            <a:ext cx="54102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6B21A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Dual Role Model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4"/>
          <p:cNvSpPr/>
          <p:nvPr/>
        </p:nvSpPr>
        <p:spPr>
          <a:xfrm>
            <a:off x="419100" y="2628900"/>
            <a:ext cx="64465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400" b="1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Hub Score:</a:t>
            </a: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 Good collector of authority pages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5"/>
          <p:cNvSpPr/>
          <p:nvPr/>
        </p:nvSpPr>
        <p:spPr>
          <a:xfrm>
            <a:off x="419100" y="2971800"/>
            <a:ext cx="64465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400" b="1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Authority Score:</a:t>
            </a: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 Good information source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6"/>
          <p:cNvSpPr/>
          <p:nvPr/>
        </p:nvSpPr>
        <p:spPr>
          <a:xfrm>
            <a:off x="685800" y="3429000"/>
            <a:ext cx="64922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6B21A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Mutual Reinforcement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7"/>
          <p:cNvSpPr/>
          <p:nvPr/>
        </p:nvSpPr>
        <p:spPr>
          <a:xfrm>
            <a:off x="381000" y="3848100"/>
            <a:ext cx="5410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Hubs point to authorities, and authorities are pointed to by hubs, </a:t>
            </a:r>
            <a:b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creating a self-reinforcing cycle.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8"/>
          <p:cNvSpPr/>
          <p:nvPr/>
        </p:nvSpPr>
        <p:spPr>
          <a:xfrm>
            <a:off x="685800" y="4533900"/>
            <a:ext cx="54102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6B21A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Web Context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9"/>
          <p:cNvSpPr/>
          <p:nvPr/>
        </p:nvSpPr>
        <p:spPr>
          <a:xfrm>
            <a:off x="495300" y="5067300"/>
            <a:ext cx="24003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EA580C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Hubs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0"/>
          <p:cNvSpPr/>
          <p:nvPr/>
        </p:nvSpPr>
        <p:spPr>
          <a:xfrm>
            <a:off x="495300" y="5334000"/>
            <a:ext cx="28803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Directories or aggregators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1"/>
          <p:cNvSpPr/>
          <p:nvPr/>
        </p:nvSpPr>
        <p:spPr>
          <a:xfrm>
            <a:off x="3276600" y="5067300"/>
            <a:ext cx="24003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6A34A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Authorities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12"/>
          <p:cNvSpPr/>
          <p:nvPr/>
        </p:nvSpPr>
        <p:spPr>
          <a:xfrm>
            <a:off x="3276600" y="5334000"/>
            <a:ext cx="28803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Content-rich pages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13"/>
          <p:cNvSpPr/>
          <p:nvPr/>
        </p:nvSpPr>
        <p:spPr>
          <a:xfrm>
            <a:off x="7091362" y="2667000"/>
            <a:ext cx="5410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6B21A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Key Insight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14"/>
          <p:cNvSpPr/>
          <p:nvPr/>
        </p:nvSpPr>
        <p:spPr>
          <a:xfrm>
            <a:off x="6872287" y="3009900"/>
            <a:ext cx="4718050" cy="1047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HITS differs from PageRank by using a dual ranking approach. While PageRank assigns a single global importance score, HITS provides two complementary scores that reveal different aspects of a node's role in the network. Developed in 1999.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15"/>
          <p:cNvSpPr/>
          <p:nvPr/>
        </p:nvSpPr>
        <p:spPr>
          <a:xfrm>
            <a:off x="381000" y="6496050"/>
            <a:ext cx="428732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50" b="1" dirty="0">
                <a:solidFill>
                  <a:srgbClr val="6B21A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SALSA</a:t>
            </a:r>
            <a:r>
              <a:rPr lang="en-US" sz="1050" dirty="0">
                <a:solidFill>
                  <a:srgbClr val="6B728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 (</a:t>
            </a:r>
            <a:r>
              <a:rPr lang="en-US" sz="1050" b="1" dirty="0">
                <a:solidFill>
                  <a:srgbClr val="15803D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Stochastic Approach for Link-Structure Analysis)</a:t>
            </a:r>
          </a:p>
        </p:txBody>
      </p:sp>
      <p:sp>
        <p:nvSpPr>
          <p:cNvPr id="29" name="Text 16"/>
          <p:cNvSpPr/>
          <p:nvPr/>
        </p:nvSpPr>
        <p:spPr>
          <a:xfrm>
            <a:off x="11426726" y="6496050"/>
            <a:ext cx="46112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6 / 17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91515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83820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1950" y="2039179"/>
            <a:ext cx="171450" cy="190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950" y="2343979"/>
            <a:ext cx="5486400" cy="7620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950" y="3248517"/>
            <a:ext cx="5486400" cy="7620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9099" y="4191000"/>
            <a:ext cx="190500" cy="190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24602" y="3644552"/>
            <a:ext cx="5486400" cy="14097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0" y="3849309"/>
            <a:ext cx="142875" cy="190500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US" sz="2700" b="1" dirty="0">
                <a:solidFill>
                  <a:srgbClr val="581C87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HITS Formulation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"/>
          <p:cNvSpPr/>
          <p:nvPr/>
        </p:nvSpPr>
        <p:spPr>
          <a:xfrm>
            <a:off x="381000" y="1104900"/>
            <a:ext cx="54864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16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HITS algorithm computes hub and authority scores by performing eigenvector analysis on the network’s adjacency matrix, revealing nodes that best represent information sources and authorities.</a:t>
            </a:r>
          </a:p>
          <a:p>
            <a:pPr marL="0" indent="0">
              <a:lnSpc>
                <a:spcPts val="2100"/>
              </a:lnSpc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2"/>
          <p:cNvSpPr/>
          <p:nvPr/>
        </p:nvSpPr>
        <p:spPr>
          <a:xfrm>
            <a:off x="609600" y="2001079"/>
            <a:ext cx="5486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B21A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Mathematical Formulation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3"/>
          <p:cNvSpPr/>
          <p:nvPr/>
        </p:nvSpPr>
        <p:spPr>
          <a:xfrm>
            <a:off x="497205" y="2802285"/>
            <a:ext cx="5257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7E22CE"/>
                </a:solidFill>
                <a:latin typeface="Times New Roman" panose="02020603050405020304" pitchFamily="18" charset="0"/>
                <a:ea typeface="ui-monospace" pitchFamily="34" charset="-122"/>
                <a:cs typeface="Times New Roman" panose="02020603050405020304" pitchFamily="18" charset="0"/>
              </a:rPr>
              <a:t>Hub </a:t>
            </a:r>
            <a:r>
              <a:rPr lang="en-US" sz="1400" b="1" dirty="0">
                <a:solidFill>
                  <a:srgbClr val="7E22CE"/>
                </a:solidFill>
                <a:latin typeface="Times New Roman" panose="02020603050405020304" pitchFamily="18" charset="0"/>
                <a:ea typeface="ui-monospace" pitchFamily="34" charset="-122"/>
                <a:cs typeface="Times New Roman" panose="02020603050405020304" pitchFamily="18" charset="0"/>
              </a:rPr>
              <a:t>scores</a:t>
            </a:r>
            <a:r>
              <a:rPr lang="en-US" sz="1400" dirty="0">
                <a:solidFill>
                  <a:srgbClr val="7E22CE"/>
                </a:solidFill>
                <a:latin typeface="Times New Roman" panose="02020603050405020304" pitchFamily="18" charset="0"/>
                <a:ea typeface="ui-monospace" pitchFamily="34" charset="-122"/>
                <a:cs typeface="Times New Roman" panose="02020603050405020304" pitchFamily="18" charset="0"/>
              </a:rPr>
              <a:t>:</a:t>
            </a: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ea typeface="ui-monospace" pitchFamily="34" charset="-122"/>
                <a:cs typeface="Times New Roman" panose="02020603050405020304" pitchFamily="18" charset="0"/>
              </a:rPr>
              <a:t>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4"/>
          <p:cNvSpPr/>
          <p:nvPr/>
        </p:nvSpPr>
        <p:spPr>
          <a:xfrm>
            <a:off x="476250" y="2468179"/>
            <a:ext cx="5257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7E22CE"/>
                </a:solidFill>
                <a:latin typeface="Times New Roman" panose="02020603050405020304" pitchFamily="18" charset="0"/>
                <a:ea typeface="ui-monospace" pitchFamily="34" charset="-122"/>
                <a:cs typeface="Times New Roman" panose="02020603050405020304" pitchFamily="18" charset="0"/>
              </a:rPr>
              <a:t>Authority </a:t>
            </a:r>
            <a:r>
              <a:rPr lang="en-US" sz="1400" b="1" dirty="0">
                <a:solidFill>
                  <a:srgbClr val="7E22CE"/>
                </a:solidFill>
                <a:latin typeface="Times New Roman" panose="02020603050405020304" pitchFamily="18" charset="0"/>
                <a:ea typeface="ui-monospace" pitchFamily="34" charset="-122"/>
                <a:cs typeface="Times New Roman" panose="02020603050405020304" pitchFamily="18" charset="0"/>
              </a:rPr>
              <a:t>scores</a:t>
            </a:r>
            <a:r>
              <a:rPr lang="en-US" sz="1400" dirty="0">
                <a:solidFill>
                  <a:srgbClr val="7E22CE"/>
                </a:solidFill>
                <a:latin typeface="Times New Roman" panose="02020603050405020304" pitchFamily="18" charset="0"/>
                <a:ea typeface="ui-monospace" pitchFamily="34" charset="-122"/>
                <a:cs typeface="Times New Roman" panose="02020603050405020304" pitchFamily="18" charset="0"/>
              </a:rPr>
              <a:t>: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6"/>
          <p:cNvSpPr/>
          <p:nvPr/>
        </p:nvSpPr>
        <p:spPr>
          <a:xfrm>
            <a:off x="476250" y="3362817"/>
            <a:ext cx="5257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7E22CE"/>
                </a:solidFill>
                <a:latin typeface="Times New Roman" panose="02020603050405020304" pitchFamily="18" charset="0"/>
                <a:ea typeface="ui-monospace" pitchFamily="34" charset="-122"/>
                <a:cs typeface="Times New Roman" panose="02020603050405020304" pitchFamily="18" charset="0"/>
              </a:rPr>
              <a:t>Authority: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7"/>
          <p:cNvSpPr/>
          <p:nvPr/>
        </p:nvSpPr>
        <p:spPr>
          <a:xfrm>
            <a:off x="476250" y="3667617"/>
            <a:ext cx="5257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7E22CE"/>
                </a:solidFill>
                <a:latin typeface="Times New Roman" panose="02020603050405020304" pitchFamily="18" charset="0"/>
                <a:ea typeface="ui-monospace" pitchFamily="34" charset="-122"/>
                <a:cs typeface="Times New Roman" panose="02020603050405020304" pitchFamily="18" charset="0"/>
              </a:rPr>
              <a:t>Hub: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8"/>
          <p:cNvSpPr/>
          <p:nvPr/>
        </p:nvSpPr>
        <p:spPr>
          <a:xfrm>
            <a:off x="685799" y="4152900"/>
            <a:ext cx="5486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B21A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Step-by-step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9"/>
          <p:cNvSpPr/>
          <p:nvPr/>
        </p:nvSpPr>
        <p:spPr>
          <a:xfrm>
            <a:off x="457199" y="4495800"/>
            <a:ext cx="54483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  <a:buSzPct val="100000"/>
            </a:pPr>
            <a:r>
              <a:rPr lang="en-US" sz="1400" b="1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1) </a:t>
            </a: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Start with initial vectors: </a:t>
            </a:r>
            <a:r>
              <a:rPr lang="pt-BR" sz="1400" i="1" dirty="0">
                <a:solidFill>
                  <a:srgbClr val="374151"/>
                </a:solidFill>
                <a:latin typeface="Times New Roman" panose="02020603050405020304" pitchFamily="18" charset="0"/>
                <a:ea typeface="ui-monospace" pitchFamily="34" charset="-122"/>
                <a:cs typeface="Times New Roman" panose="02020603050405020304" pitchFamily="18" charset="0"/>
              </a:rPr>
              <a:t>h(0)=</a:t>
            </a:r>
            <a:r>
              <a:rPr lang="pt-BR" sz="1400" dirty="0">
                <a:solidFill>
                  <a:srgbClr val="374151"/>
                </a:solidFill>
                <a:latin typeface="Times New Roman" panose="02020603050405020304" pitchFamily="18" charset="0"/>
                <a:ea typeface="ui-monospace" pitchFamily="34" charset="-122"/>
                <a:cs typeface="Times New Roman" panose="02020603050405020304" pitchFamily="18" charset="0"/>
              </a:rPr>
              <a:t>1</a:t>
            </a:r>
            <a:r>
              <a:rPr lang="pt-BR" sz="1050" dirty="0">
                <a:solidFill>
                  <a:srgbClr val="374151"/>
                </a:solidFill>
                <a:latin typeface="Times New Roman" panose="02020603050405020304" pitchFamily="18" charset="0"/>
                <a:ea typeface="ui-monospace" pitchFamily="34" charset="-122"/>
                <a:cs typeface="Times New Roman" panose="02020603050405020304" pitchFamily="18" charset="0"/>
              </a:rPr>
              <a:t>n</a:t>
            </a:r>
            <a:r>
              <a:rPr lang="pt-BR" sz="1400" i="1" dirty="0">
                <a:solidFill>
                  <a:srgbClr val="374151"/>
                </a:solidFill>
                <a:latin typeface="Times New Roman" panose="02020603050405020304" pitchFamily="18" charset="0"/>
                <a:ea typeface="ui-monospace" pitchFamily="34" charset="-122"/>
                <a:cs typeface="Times New Roman" panose="02020603050405020304" pitchFamily="18" charset="0"/>
              </a:rPr>
              <a:t>, a(0)=</a:t>
            </a:r>
            <a:r>
              <a:rPr lang="pt-BR" sz="1400" dirty="0">
                <a:solidFill>
                  <a:srgbClr val="374151"/>
                </a:solidFill>
                <a:latin typeface="Times New Roman" panose="02020603050405020304" pitchFamily="18" charset="0"/>
                <a:ea typeface="ui-monospace" pitchFamily="34" charset="-122"/>
                <a:cs typeface="Times New Roman" panose="02020603050405020304" pitchFamily="18" charset="0"/>
              </a:rPr>
              <a:t>1</a:t>
            </a:r>
            <a:r>
              <a:rPr lang="pt-BR" sz="1050" dirty="0">
                <a:solidFill>
                  <a:srgbClr val="374151"/>
                </a:solidFill>
                <a:latin typeface="Times New Roman" panose="02020603050405020304" pitchFamily="18" charset="0"/>
                <a:ea typeface="ui-monospace" pitchFamily="34" charset="-122"/>
                <a:cs typeface="Times New Roman" panose="02020603050405020304" pitchFamily="18" charset="0"/>
              </a:rPr>
              <a:t>n</a:t>
            </a:r>
            <a:endParaRPr lang="en-US" sz="1400" b="1" dirty="0">
              <a:solidFill>
                <a:srgbClr val="374151"/>
              </a:solidFill>
              <a:latin typeface="Times New Roman" panose="02020603050405020304" pitchFamily="18" charset="0"/>
              <a:ea typeface="ui-monospace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 10"/>
              <p:cNvSpPr/>
              <p:nvPr/>
            </p:nvSpPr>
            <p:spPr>
              <a:xfrm>
                <a:off x="457199" y="5100668"/>
                <a:ext cx="6537960" cy="238125"/>
              </a:xfrm>
              <a:prstGeom prst="rect">
                <a:avLst/>
              </a:prstGeom>
              <a:noFill/>
              <a:ln/>
            </p:spPr>
            <p:txBody>
              <a:bodyPr vert="horz" wrap="square" lIns="0" tIns="0" rIns="0" bIns="0" rtlCol="0" anchor="t"/>
              <a:lstStyle/>
              <a:p>
                <a:pPr algn="l">
                  <a:lnSpc>
                    <a:spcPts val="1800"/>
                  </a:lnSpc>
                  <a:buSzPct val="100000"/>
                </a:pPr>
                <a:r>
                  <a:rPr lang="en-US" sz="1400" b="1" dirty="0">
                    <a:solidFill>
                      <a:srgbClr val="374151"/>
                    </a:solidFill>
                    <a:latin typeface="Times New Roman" panose="02020603050405020304" pitchFamily="18" charset="0"/>
                    <a:ea typeface="ui-sans-serif" pitchFamily="34" charset="-122"/>
                    <a:cs typeface="Times New Roman" panose="02020603050405020304" pitchFamily="18" charset="0"/>
                  </a:rPr>
                  <a:t>2)       </a:t>
                </a:r>
                <a:r>
                  <a:rPr lang="en-US" sz="1400" dirty="0">
                    <a:solidFill>
                      <a:srgbClr val="374151"/>
                    </a:solidFill>
                    <a:latin typeface="Times New Roman" panose="02020603050405020304" pitchFamily="18" charset="0"/>
                    <a:ea typeface="ui-sans-serif" pitchFamily="34" charset="-122"/>
                    <a:cs typeface="Times New Roman" panose="02020603050405020304" pitchFamily="18" charset="0"/>
                  </a:rPr>
                  <a:t>Update authority scores: </a:t>
                </a:r>
                <a:r>
                  <a:rPr lang="en-US" sz="1400" i="1" dirty="0">
                    <a:solidFill>
                      <a:srgbClr val="374151"/>
                    </a:solidFill>
                    <a:latin typeface="Times New Roman" panose="02020603050405020304" pitchFamily="18" charset="0"/>
                    <a:ea typeface="ui-monospace" pitchFamily="34" charset="-122"/>
                    <a:cs typeface="Times New Roman" panose="02020603050405020304" pitchFamily="18" charset="0"/>
                  </a:rPr>
                  <a:t>a(t+1)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 smtClean="0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  <a:ea typeface="ui-monospace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  <a:ea typeface="ui-monospace" pitchFamily="34" charset="-122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1400" b="0" i="1" smtClean="0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  <a:ea typeface="ui-monospace" pitchFamily="34" charset="-122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1400" i="1" dirty="0">
                    <a:solidFill>
                      <a:srgbClr val="374151"/>
                    </a:solidFill>
                    <a:latin typeface="Times New Roman" panose="02020603050405020304" pitchFamily="18" charset="0"/>
                    <a:ea typeface="ui-monospace" pitchFamily="34" charset="-122"/>
                    <a:cs typeface="Times New Roman" panose="02020603050405020304" pitchFamily="18" charset="0"/>
                  </a:rPr>
                  <a:t>h(t)</a:t>
                </a:r>
                <a:endParaRPr lang="en-US" sz="1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Text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99" y="5100668"/>
                <a:ext cx="6537960" cy="238125"/>
              </a:xfrm>
              <a:prstGeom prst="rect">
                <a:avLst/>
              </a:prstGeom>
              <a:blipFill>
                <a:blip r:embed="rId12"/>
                <a:stretch>
                  <a:fillRect l="-1679" t="-25641" b="-3589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 11"/>
          <p:cNvSpPr/>
          <p:nvPr/>
        </p:nvSpPr>
        <p:spPr>
          <a:xfrm>
            <a:off x="457199" y="5414993"/>
            <a:ext cx="6537960" cy="2381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l">
              <a:lnSpc>
                <a:spcPts val="1800"/>
              </a:lnSpc>
              <a:buSzPct val="100000"/>
            </a:pPr>
            <a:r>
              <a:rPr lang="en-US" sz="1400" b="1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3)       </a:t>
            </a: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Update hub scores: </a:t>
            </a:r>
            <a:r>
              <a:rPr lang="en-US" sz="1400" i="1" dirty="0">
                <a:solidFill>
                  <a:srgbClr val="374151"/>
                </a:solidFill>
                <a:latin typeface="Times New Roman" panose="02020603050405020304" pitchFamily="18" charset="0"/>
                <a:ea typeface="ui-monospace" pitchFamily="34" charset="-122"/>
                <a:cs typeface="Times New Roman" panose="02020603050405020304" pitchFamily="18" charset="0"/>
              </a:rPr>
              <a:t>h(t+1) = Ah(t+1)</a:t>
            </a:r>
            <a:endParaRPr 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2"/>
          <p:cNvSpPr/>
          <p:nvPr/>
        </p:nvSpPr>
        <p:spPr>
          <a:xfrm>
            <a:off x="457199" y="5729318"/>
            <a:ext cx="54483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l">
              <a:lnSpc>
                <a:spcPts val="1800"/>
              </a:lnSpc>
              <a:buSzPct val="100000"/>
            </a:pPr>
            <a:r>
              <a:rPr lang="en-US" sz="1400" b="1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4)      </a:t>
            </a: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Normalize after each step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3"/>
          <p:cNvSpPr/>
          <p:nvPr/>
        </p:nvSpPr>
        <p:spPr>
          <a:xfrm>
            <a:off x="6772273" y="3790621"/>
            <a:ext cx="62179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B21A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Key Mathematical Properties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14"/>
          <p:cNvSpPr/>
          <p:nvPr/>
        </p:nvSpPr>
        <p:spPr>
          <a:xfrm>
            <a:off x="6515100" y="4154109"/>
            <a:ext cx="51435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Converges to principal eigenvectors of (hub, authority)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15"/>
          <p:cNvSpPr/>
          <p:nvPr/>
        </p:nvSpPr>
        <p:spPr>
          <a:xfrm>
            <a:off x="6515100" y="4420809"/>
            <a:ext cx="61722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Non-stochastic, may produce multiple disconnected eigenpairs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16"/>
          <p:cNvSpPr/>
          <p:nvPr/>
        </p:nvSpPr>
        <p:spPr>
          <a:xfrm>
            <a:off x="6515100" y="4687509"/>
            <a:ext cx="61722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Sensitive to local subgraphs and query-dependent subwebs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17"/>
          <p:cNvSpPr/>
          <p:nvPr/>
        </p:nvSpPr>
        <p:spPr>
          <a:xfrm>
            <a:off x="381000" y="6343650"/>
            <a:ext cx="428732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50" b="1" dirty="0">
                <a:solidFill>
                  <a:srgbClr val="6B21A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SALSA</a:t>
            </a:r>
            <a:r>
              <a:rPr lang="en-US" sz="1050" dirty="0">
                <a:solidFill>
                  <a:srgbClr val="6B728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 (</a:t>
            </a:r>
            <a:r>
              <a:rPr lang="en-US" sz="1050" b="1" dirty="0">
                <a:solidFill>
                  <a:srgbClr val="15803D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Stochastic Approach for Link-Structure Analysis)</a:t>
            </a:r>
          </a:p>
        </p:txBody>
      </p:sp>
      <p:sp>
        <p:nvSpPr>
          <p:cNvPr id="29" name="Text 18"/>
          <p:cNvSpPr/>
          <p:nvPr/>
        </p:nvSpPr>
        <p:spPr>
          <a:xfrm>
            <a:off x="11426726" y="6343650"/>
            <a:ext cx="46112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7 / 17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9">
            <a:extLst>
              <a:ext uri="{FF2B5EF4-FFF2-40B4-BE49-F238E27FC236}">
                <a16:creationId xmlns:a16="http://schemas.microsoft.com/office/drawing/2014/main" id="{FA1FF766-DF86-B02B-73C0-C68E759D1366}"/>
              </a:ext>
            </a:extLst>
          </p:cNvPr>
          <p:cNvSpPr/>
          <p:nvPr/>
        </p:nvSpPr>
        <p:spPr>
          <a:xfrm>
            <a:off x="457198" y="4808159"/>
            <a:ext cx="54483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l">
              <a:lnSpc>
                <a:spcPts val="1800"/>
              </a:lnSpc>
              <a:buSzPct val="100000"/>
            </a:pPr>
            <a:r>
              <a:rPr lang="en-US" sz="1400" b="1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2) </a:t>
            </a: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Repeat until it converges or maximum number of iterations reached: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F7F6A97E-CA13-1D16-8B4E-610D82D8740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59938" y="2760051"/>
            <a:ext cx="785721" cy="322347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40EC8E08-E4C6-384A-0717-F99E150696E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962275" y="2415192"/>
            <a:ext cx="704850" cy="293688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5FB6209-B49E-930B-BA14-A0ADC6129EC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812726" y="3288660"/>
            <a:ext cx="979938" cy="326646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3AA489FF-3467-A1D8-7055-E9891A18A28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912935" y="3598976"/>
            <a:ext cx="879729" cy="329898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34CB9CCE-E534-EF11-80A2-A1A35E183ED3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863261" y="4095421"/>
            <a:ext cx="871540" cy="290513"/>
          </a:xfrm>
          <a:prstGeom prst="rect">
            <a:avLst/>
          </a:prstGeom>
        </p:spPr>
      </p:pic>
      <p:sp>
        <p:nvSpPr>
          <p:cNvPr id="16" name="Rectangle 1">
            <a:extLst>
              <a:ext uri="{FF2B5EF4-FFF2-40B4-BE49-F238E27FC236}">
                <a16:creationId xmlns:a16="http://schemas.microsoft.com/office/drawing/2014/main" id="{F1F28F46-D72A-C782-1CDE-7D62A73B34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3987" y="2630109"/>
            <a:ext cx="564572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6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      Authority of a node: sum of hub scores of nodes linking to it.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6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      Hub of a node: sum of authority scores of nodes it links to.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104900"/>
            <a:ext cx="5600700" cy="14478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1257300"/>
            <a:ext cx="304800" cy="381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362075"/>
            <a:ext cx="152400" cy="152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2705100"/>
            <a:ext cx="5600700" cy="1447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400" y="2857500"/>
            <a:ext cx="304800" cy="381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2962275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1000" y="4305300"/>
            <a:ext cx="5600700" cy="1447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3400" y="4457700"/>
            <a:ext cx="304800" cy="381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600" y="4562475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24600" y="2705100"/>
            <a:ext cx="5600700" cy="15621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77000" y="2886075"/>
            <a:ext cx="133350" cy="17145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581C87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HITS Properties and Characteristics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"/>
          <p:cNvSpPr/>
          <p:nvPr/>
        </p:nvSpPr>
        <p:spPr>
          <a:xfrm>
            <a:off x="952500" y="1314450"/>
            <a:ext cx="288518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B21A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Non-stochastic Nature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"/>
          <p:cNvSpPr/>
          <p:nvPr/>
        </p:nvSpPr>
        <p:spPr>
          <a:xfrm>
            <a:off x="723900" y="1714500"/>
            <a:ext cx="61264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Unlike PageRank, HITS uses algebraic normalization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3"/>
          <p:cNvSpPr/>
          <p:nvPr/>
        </p:nvSpPr>
        <p:spPr>
          <a:xfrm>
            <a:off x="723900" y="1943100"/>
            <a:ext cx="61264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May produce multiple disconnected eigenpairs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4"/>
          <p:cNvSpPr/>
          <p:nvPr/>
        </p:nvSpPr>
        <p:spPr>
          <a:xfrm>
            <a:off x="723900" y="2171700"/>
            <a:ext cx="61264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Convergence depends on the graph structure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5"/>
          <p:cNvSpPr/>
          <p:nvPr/>
        </p:nvSpPr>
        <p:spPr>
          <a:xfrm>
            <a:off x="952500" y="2914650"/>
            <a:ext cx="342489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B21A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Local Structure Sensitivity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6"/>
          <p:cNvSpPr/>
          <p:nvPr/>
        </p:nvSpPr>
        <p:spPr>
          <a:xfrm>
            <a:off x="723900" y="3314700"/>
            <a:ext cx="61264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Highly sensitive to local subgraphs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7"/>
          <p:cNvSpPr/>
          <p:nvPr/>
        </p:nvSpPr>
        <p:spPr>
          <a:xfrm>
            <a:off x="723900" y="3543300"/>
            <a:ext cx="61264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Query-dependent subwebs can dramatically change results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8"/>
          <p:cNvSpPr/>
          <p:nvPr/>
        </p:nvSpPr>
        <p:spPr>
          <a:xfrm>
            <a:off x="723900" y="3771900"/>
            <a:ext cx="61264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May not reflect global network structure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9"/>
          <p:cNvSpPr/>
          <p:nvPr/>
        </p:nvSpPr>
        <p:spPr>
          <a:xfrm>
            <a:off x="952500" y="4514850"/>
            <a:ext cx="274641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B21A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Dual Ranking System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10"/>
          <p:cNvSpPr/>
          <p:nvPr/>
        </p:nvSpPr>
        <p:spPr>
          <a:xfrm>
            <a:off x="723900" y="4914900"/>
            <a:ext cx="61264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Produces 2 separate rankings: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11"/>
          <p:cNvSpPr/>
          <p:nvPr/>
        </p:nvSpPr>
        <p:spPr>
          <a:xfrm>
            <a:off x="723900" y="5143500"/>
            <a:ext cx="61264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EA580C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Hub scores</a:t>
            </a: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: Quality as a collector of authority pages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12"/>
          <p:cNvSpPr/>
          <p:nvPr/>
        </p:nvSpPr>
        <p:spPr>
          <a:xfrm>
            <a:off x="723900" y="5372100"/>
            <a:ext cx="61264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15803D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Authority scores</a:t>
            </a: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: Quality as an information source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16"/>
          <p:cNvSpPr/>
          <p:nvPr/>
        </p:nvSpPr>
        <p:spPr>
          <a:xfrm>
            <a:off x="6686550" y="2857500"/>
            <a:ext cx="52959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6B21A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 Key Implications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17"/>
          <p:cNvSpPr/>
          <p:nvPr/>
        </p:nvSpPr>
        <p:spPr>
          <a:xfrm>
            <a:off x="6477000" y="3200400"/>
            <a:ext cx="5505450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HITS dual ranking system makes it particularly effective for topic-specific search, identifying both directories/aggregators (hubs) and content-rich pages (authorities). However, its sensitivity to local structures limits its applicability in broader network analysis.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18"/>
          <p:cNvSpPr/>
          <p:nvPr/>
        </p:nvSpPr>
        <p:spPr>
          <a:xfrm>
            <a:off x="381000" y="6286500"/>
            <a:ext cx="428732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50" b="1" dirty="0">
                <a:solidFill>
                  <a:srgbClr val="6B21A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SALSA</a:t>
            </a:r>
            <a:r>
              <a:rPr lang="en-US" sz="1050" dirty="0">
                <a:solidFill>
                  <a:srgbClr val="6B728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 (</a:t>
            </a:r>
            <a:r>
              <a:rPr lang="en-US" sz="1050" b="1" dirty="0">
                <a:solidFill>
                  <a:srgbClr val="15803D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Stochastic Approach for Link-Structure Analysis)</a:t>
            </a:r>
          </a:p>
        </p:txBody>
      </p:sp>
      <p:sp>
        <p:nvSpPr>
          <p:cNvPr id="39" name="Text 19"/>
          <p:cNvSpPr/>
          <p:nvPr/>
        </p:nvSpPr>
        <p:spPr>
          <a:xfrm>
            <a:off x="11464171" y="6286500"/>
            <a:ext cx="46112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8 / 17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133475"/>
            <a:ext cx="228600" cy="228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2390775"/>
            <a:ext cx="200025" cy="228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4105275"/>
            <a:ext cx="228600" cy="228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0" y="4305300"/>
            <a:ext cx="5715000" cy="1409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78388" y="4424516"/>
            <a:ext cx="142875" cy="1905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48400" y="4800600"/>
            <a:ext cx="1752600" cy="762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06000" y="4795991"/>
            <a:ext cx="1752600" cy="762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69580" y="4791075"/>
            <a:ext cx="1752600" cy="762000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581C87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SALSA Algorithm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"/>
          <p:cNvSpPr/>
          <p:nvPr/>
        </p:nvSpPr>
        <p:spPr>
          <a:xfrm>
            <a:off x="685800" y="1104900"/>
            <a:ext cx="54864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6B21A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What is SALSA?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2"/>
          <p:cNvSpPr/>
          <p:nvPr/>
        </p:nvSpPr>
        <p:spPr>
          <a:xfrm>
            <a:off x="381000" y="1581150"/>
            <a:ext cx="54864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SALSA (Stochastic Approach for Link-Structure Analysis) merges PageRank's stability with HITS' role distinction.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3"/>
          <p:cNvSpPr/>
          <p:nvPr/>
        </p:nvSpPr>
        <p:spPr>
          <a:xfrm>
            <a:off x="657225" y="2362200"/>
            <a:ext cx="54864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6B21A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Key Features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4"/>
          <p:cNvSpPr/>
          <p:nvPr/>
        </p:nvSpPr>
        <p:spPr>
          <a:xfrm>
            <a:off x="419100" y="2743200"/>
            <a:ext cx="65379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Builds a bipartite graph of hubs and authorities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5"/>
          <p:cNvSpPr/>
          <p:nvPr/>
        </p:nvSpPr>
        <p:spPr>
          <a:xfrm>
            <a:off x="419100" y="3048000"/>
            <a:ext cx="65379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Runs two Markov chains on different graph sides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6"/>
          <p:cNvSpPr/>
          <p:nvPr/>
        </p:nvSpPr>
        <p:spPr>
          <a:xfrm>
            <a:off x="419100" y="3352800"/>
            <a:ext cx="65379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Uses stochastic normalization for stability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7"/>
          <p:cNvSpPr/>
          <p:nvPr/>
        </p:nvSpPr>
        <p:spPr>
          <a:xfrm>
            <a:off x="419100" y="3657600"/>
            <a:ext cx="65379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Performs two-step random walks on the bipartite graph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8"/>
          <p:cNvSpPr/>
          <p:nvPr/>
        </p:nvSpPr>
        <p:spPr>
          <a:xfrm>
            <a:off x="685800" y="4076700"/>
            <a:ext cx="54864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6B21A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Algorithmic Benefits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9"/>
          <p:cNvSpPr/>
          <p:nvPr/>
        </p:nvSpPr>
        <p:spPr>
          <a:xfrm>
            <a:off x="419100" y="4457700"/>
            <a:ext cx="65379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Robust against local structure changes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0"/>
          <p:cNvSpPr/>
          <p:nvPr/>
        </p:nvSpPr>
        <p:spPr>
          <a:xfrm>
            <a:off x="419100" y="4762500"/>
            <a:ext cx="65379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Detects natural communities in networks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1"/>
          <p:cNvSpPr/>
          <p:nvPr/>
        </p:nvSpPr>
        <p:spPr>
          <a:xfrm>
            <a:off x="419100" y="5067300"/>
            <a:ext cx="65379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Produces stochastic hub and authority scores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12"/>
          <p:cNvSpPr/>
          <p:nvPr/>
        </p:nvSpPr>
        <p:spPr>
          <a:xfrm>
            <a:off x="419100" y="5372100"/>
            <a:ext cx="54483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Guaranteed convergence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13"/>
          <p:cNvSpPr/>
          <p:nvPr/>
        </p:nvSpPr>
        <p:spPr>
          <a:xfrm>
            <a:off x="6497463" y="4386416"/>
            <a:ext cx="64922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B21A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SALSA vs. PageRank vs. HITS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14"/>
          <p:cNvSpPr/>
          <p:nvPr/>
        </p:nvSpPr>
        <p:spPr>
          <a:xfrm>
            <a:off x="6324600" y="4876800"/>
            <a:ext cx="16002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6B21A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PageRank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15"/>
          <p:cNvSpPr/>
          <p:nvPr/>
        </p:nvSpPr>
        <p:spPr>
          <a:xfrm>
            <a:off x="6164580" y="5105400"/>
            <a:ext cx="19202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Global importance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16"/>
          <p:cNvSpPr/>
          <p:nvPr/>
        </p:nvSpPr>
        <p:spPr>
          <a:xfrm>
            <a:off x="6164580" y="5295900"/>
            <a:ext cx="19202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Teleportation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17"/>
          <p:cNvSpPr/>
          <p:nvPr/>
        </p:nvSpPr>
        <p:spPr>
          <a:xfrm>
            <a:off x="9982200" y="4872191"/>
            <a:ext cx="16002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6B21A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HITS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18"/>
          <p:cNvSpPr/>
          <p:nvPr/>
        </p:nvSpPr>
        <p:spPr>
          <a:xfrm>
            <a:off x="9822180" y="5100791"/>
            <a:ext cx="19202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Role separation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19"/>
          <p:cNvSpPr/>
          <p:nvPr/>
        </p:nvSpPr>
        <p:spPr>
          <a:xfrm>
            <a:off x="9822180" y="5291291"/>
            <a:ext cx="19202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Eigenvector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20"/>
          <p:cNvSpPr/>
          <p:nvPr/>
        </p:nvSpPr>
        <p:spPr>
          <a:xfrm>
            <a:off x="8145780" y="4867275"/>
            <a:ext cx="16002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6B21A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SALSA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21"/>
          <p:cNvSpPr/>
          <p:nvPr/>
        </p:nvSpPr>
        <p:spPr>
          <a:xfrm>
            <a:off x="7985760" y="5095875"/>
            <a:ext cx="19202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Stochastic roles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22"/>
          <p:cNvSpPr/>
          <p:nvPr/>
        </p:nvSpPr>
        <p:spPr>
          <a:xfrm>
            <a:off x="7985760" y="5286375"/>
            <a:ext cx="19202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Bipartite walks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23"/>
          <p:cNvSpPr/>
          <p:nvPr/>
        </p:nvSpPr>
        <p:spPr>
          <a:xfrm>
            <a:off x="381000" y="6286500"/>
            <a:ext cx="428732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50" b="1" dirty="0">
                <a:solidFill>
                  <a:srgbClr val="6B21A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SALSA</a:t>
            </a:r>
            <a:r>
              <a:rPr lang="en-US" sz="1050" dirty="0">
                <a:solidFill>
                  <a:srgbClr val="6B728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 (</a:t>
            </a:r>
            <a:r>
              <a:rPr lang="en-US" sz="1050" b="1" dirty="0">
                <a:solidFill>
                  <a:srgbClr val="15803D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Stochastic Approach for Link-Structure Analysis)</a:t>
            </a:r>
          </a:p>
        </p:txBody>
      </p:sp>
      <p:sp>
        <p:nvSpPr>
          <p:cNvPr id="37" name="Text 24"/>
          <p:cNvSpPr/>
          <p:nvPr/>
        </p:nvSpPr>
        <p:spPr>
          <a:xfrm>
            <a:off x="11426726" y="6286500"/>
            <a:ext cx="46112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9 / 17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039AEC31-892E-7059-78A8-AEE7AC6238B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66312" y="733425"/>
            <a:ext cx="3021976" cy="3114675"/>
          </a:xfrm>
          <a:prstGeom prst="rect">
            <a:avLst/>
          </a:prstGeom>
        </p:spPr>
      </p:pic>
      <p:pic>
        <p:nvPicPr>
          <p:cNvPr id="41" name="Image 10" descr="preencoded.png">
            <a:extLst>
              <a:ext uri="{FF2B5EF4-FFF2-40B4-BE49-F238E27FC236}">
                <a16:creationId xmlns:a16="http://schemas.microsoft.com/office/drawing/2014/main" id="{2A621214-082E-1835-5248-385FBBA1866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06196" y="4076700"/>
            <a:ext cx="152400" cy="152400"/>
          </a:xfrm>
          <a:prstGeom prst="rect">
            <a:avLst/>
          </a:prstGeom>
        </p:spPr>
      </p:pic>
      <p:pic>
        <p:nvPicPr>
          <p:cNvPr id="42" name="Image 11" descr="preencoded.png">
            <a:extLst>
              <a:ext uri="{FF2B5EF4-FFF2-40B4-BE49-F238E27FC236}">
                <a16:creationId xmlns:a16="http://schemas.microsoft.com/office/drawing/2014/main" id="{844CF460-8B60-DC31-C17D-19C7EA710F5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702427" y="4076700"/>
            <a:ext cx="152400" cy="152400"/>
          </a:xfrm>
          <a:prstGeom prst="rect">
            <a:avLst/>
          </a:prstGeom>
        </p:spPr>
      </p:pic>
      <p:sp>
        <p:nvSpPr>
          <p:cNvPr id="43" name="Text 13">
            <a:extLst>
              <a:ext uri="{FF2B5EF4-FFF2-40B4-BE49-F238E27FC236}">
                <a16:creationId xmlns:a16="http://schemas.microsoft.com/office/drawing/2014/main" id="{A5C3B7C1-3F9C-F043-C0A0-1764ED05F13E}"/>
              </a:ext>
            </a:extLst>
          </p:cNvPr>
          <p:cNvSpPr/>
          <p:nvPr/>
        </p:nvSpPr>
        <p:spPr>
          <a:xfrm>
            <a:off x="8134796" y="4057650"/>
            <a:ext cx="40683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Hubs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14">
            <a:extLst>
              <a:ext uri="{FF2B5EF4-FFF2-40B4-BE49-F238E27FC236}">
                <a16:creationId xmlns:a16="http://schemas.microsoft.com/office/drawing/2014/main" id="{B83F7DF0-115F-230B-C486-60F4115FB015}"/>
              </a:ext>
            </a:extLst>
          </p:cNvPr>
          <p:cNvSpPr/>
          <p:nvPr/>
        </p:nvSpPr>
        <p:spPr>
          <a:xfrm>
            <a:off x="8931027" y="4057650"/>
            <a:ext cx="87225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Authorities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0" name="Rectangle 79">
            <a:extLst>
              <a:ext uri="{FF2B5EF4-FFF2-40B4-BE49-F238E27FC236}">
                <a16:creationId xmlns:a16="http://schemas.microsoft.com/office/drawing/2014/main" id="{FB6235B9-9D5B-BEC7-A047-57519DE486EE}"/>
              </a:ext>
            </a:extLst>
          </p:cNvPr>
          <p:cNvSpPr/>
          <p:nvPr/>
        </p:nvSpPr>
        <p:spPr>
          <a:xfrm>
            <a:off x="3223743" y="3269377"/>
            <a:ext cx="4800062" cy="7573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51373A66-D037-E80B-F17F-50F294912C33}"/>
              </a:ext>
            </a:extLst>
          </p:cNvPr>
          <p:cNvSpPr/>
          <p:nvPr/>
        </p:nvSpPr>
        <p:spPr>
          <a:xfrm>
            <a:off x="572038" y="1803933"/>
            <a:ext cx="4800062" cy="7573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133475"/>
            <a:ext cx="257175" cy="2286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507" y="4356161"/>
            <a:ext cx="5600700" cy="11811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907" y="4546661"/>
            <a:ext cx="123825" cy="1905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40429" y="4630733"/>
            <a:ext cx="1524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36660" y="4630733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46104" y="4912910"/>
            <a:ext cx="3651500" cy="9525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43199" y="5009350"/>
            <a:ext cx="190500" cy="190500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US" sz="2700" b="1" dirty="0">
                <a:solidFill>
                  <a:srgbClr val="581C87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SALSA Formulation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"/>
          <p:cNvSpPr/>
          <p:nvPr/>
        </p:nvSpPr>
        <p:spPr>
          <a:xfrm>
            <a:off x="714375" y="1104900"/>
            <a:ext cx="67208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6B21A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Bipartite Graph Construction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2"/>
          <p:cNvSpPr/>
          <p:nvPr/>
        </p:nvSpPr>
        <p:spPr>
          <a:xfrm>
            <a:off x="381000" y="1524000"/>
            <a:ext cx="67208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Given directed graph G = (V, E):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3"/>
          <p:cNvSpPr/>
          <p:nvPr/>
        </p:nvSpPr>
        <p:spPr>
          <a:xfrm>
            <a:off x="419100" y="1866900"/>
            <a:ext cx="5562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400" i="1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U = {u ∈ V: du &gt; 0} (hubs – offers links to others)</a:t>
            </a:r>
            <a:endParaRPr 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4"/>
          <p:cNvSpPr/>
          <p:nvPr/>
        </p:nvSpPr>
        <p:spPr>
          <a:xfrm>
            <a:off x="381000" y="2247900"/>
            <a:ext cx="66751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400" i="1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V' = {v ∈ V: dv &gt; 0} (authorities – receives links from others)</a:t>
            </a:r>
            <a:endParaRPr 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5"/>
          <p:cNvSpPr/>
          <p:nvPr/>
        </p:nvSpPr>
        <p:spPr>
          <a:xfrm>
            <a:off x="419100" y="2610244"/>
            <a:ext cx="66751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Bipartite adjacency (B):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10"/>
          <p:cNvSpPr/>
          <p:nvPr/>
        </p:nvSpPr>
        <p:spPr>
          <a:xfrm>
            <a:off x="859932" y="4508561"/>
            <a:ext cx="52959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B21A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Two-Step Random Walk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11"/>
          <p:cNvSpPr/>
          <p:nvPr/>
        </p:nvSpPr>
        <p:spPr>
          <a:xfrm>
            <a:off x="659907" y="4851461"/>
            <a:ext cx="63550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For hubs:</a:t>
            </a: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 u → v → w (hub → authority → hub)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12"/>
          <p:cNvSpPr/>
          <p:nvPr/>
        </p:nvSpPr>
        <p:spPr>
          <a:xfrm>
            <a:off x="659907" y="5156261"/>
            <a:ext cx="63550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For authorities:</a:t>
            </a: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 v → u → w (authority → hub → authority)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13"/>
          <p:cNvSpPr/>
          <p:nvPr/>
        </p:nvSpPr>
        <p:spPr>
          <a:xfrm>
            <a:off x="9169029" y="4611683"/>
            <a:ext cx="40683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Hubs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14"/>
          <p:cNvSpPr/>
          <p:nvPr/>
        </p:nvSpPr>
        <p:spPr>
          <a:xfrm>
            <a:off x="9965260" y="4611683"/>
            <a:ext cx="87225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Authorities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15"/>
          <p:cNvSpPr/>
          <p:nvPr/>
        </p:nvSpPr>
        <p:spPr>
          <a:xfrm>
            <a:off x="8286657" y="4953392"/>
            <a:ext cx="52959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B21A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Key Properties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18"/>
          <p:cNvSpPr/>
          <p:nvPr/>
        </p:nvSpPr>
        <p:spPr>
          <a:xfrm>
            <a:off x="8081124" y="5298276"/>
            <a:ext cx="63093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Stochastic normalization ensures convergence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19"/>
          <p:cNvSpPr/>
          <p:nvPr/>
        </p:nvSpPr>
        <p:spPr>
          <a:xfrm>
            <a:off x="8081124" y="5564976"/>
            <a:ext cx="63093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Robust to local structure changes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20"/>
          <p:cNvSpPr/>
          <p:nvPr/>
        </p:nvSpPr>
        <p:spPr>
          <a:xfrm>
            <a:off x="381000" y="6286500"/>
            <a:ext cx="428732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50" b="1" dirty="0">
                <a:solidFill>
                  <a:srgbClr val="6B21A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SALSA</a:t>
            </a:r>
            <a:r>
              <a:rPr lang="en-US" sz="1050" dirty="0">
                <a:solidFill>
                  <a:srgbClr val="6B728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 (</a:t>
            </a:r>
            <a:r>
              <a:rPr lang="en-US" sz="1050" b="1" dirty="0">
                <a:solidFill>
                  <a:srgbClr val="15803D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Stochastic Approach for Link-Structure Analysis)</a:t>
            </a:r>
          </a:p>
        </p:txBody>
      </p:sp>
      <p:sp>
        <p:nvSpPr>
          <p:cNvPr id="37" name="Text 21"/>
          <p:cNvSpPr/>
          <p:nvPr/>
        </p:nvSpPr>
        <p:spPr>
          <a:xfrm>
            <a:off x="11341894" y="6286500"/>
            <a:ext cx="56292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10 / 17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FFEEED33-42E7-455E-3CC2-813735B92FB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35082" y="577372"/>
            <a:ext cx="3168392" cy="3513139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952B41F7-C706-503A-2F61-87A51E04624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34692" y="4162421"/>
            <a:ext cx="3168391" cy="300037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B8637F64-E91C-747F-44D3-48231D120F5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24206" y="2686570"/>
            <a:ext cx="2867978" cy="307971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B68FF06D-4EF1-D733-D9C7-D54F550EE66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228017" y="2969140"/>
            <a:ext cx="2864168" cy="314326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CB2EB245-F447-E5F9-3D2D-8DF6109583A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67146" y="2866194"/>
            <a:ext cx="2306664" cy="1134110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F04343BB-25D1-FC6C-B442-06F319F85DA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267442" y="3275371"/>
            <a:ext cx="4424495" cy="307257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B4B698A9-6B50-CF68-19B2-24146DEE8AD7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311141" y="3654780"/>
            <a:ext cx="4625266" cy="309641"/>
          </a:xfrm>
          <a:prstGeom prst="rect">
            <a:avLst/>
          </a:prstGeom>
        </p:spPr>
      </p:pic>
      <p:sp>
        <p:nvSpPr>
          <p:cNvPr id="77" name="Rectangle 76">
            <a:extLst>
              <a:ext uri="{FF2B5EF4-FFF2-40B4-BE49-F238E27FC236}">
                <a16:creationId xmlns:a16="http://schemas.microsoft.com/office/drawing/2014/main" id="{A9A4CA8E-709F-242D-8961-82E49565465D}"/>
              </a:ext>
            </a:extLst>
          </p:cNvPr>
          <p:cNvSpPr/>
          <p:nvPr/>
        </p:nvSpPr>
        <p:spPr>
          <a:xfrm>
            <a:off x="3093783" y="2620223"/>
            <a:ext cx="173659" cy="1427841"/>
          </a:xfrm>
          <a:prstGeom prst="rect">
            <a:avLst/>
          </a:prstGeom>
          <a:solidFill>
            <a:srgbClr val="F4F1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11A3C8F5-1DD9-7682-5F08-4597DBF7819D}"/>
              </a:ext>
            </a:extLst>
          </p:cNvPr>
          <p:cNvSpPr/>
          <p:nvPr/>
        </p:nvSpPr>
        <p:spPr>
          <a:xfrm>
            <a:off x="2854972" y="2828429"/>
            <a:ext cx="88109" cy="1191618"/>
          </a:xfrm>
          <a:prstGeom prst="rect">
            <a:avLst/>
          </a:prstGeom>
          <a:solidFill>
            <a:srgbClr val="F4F1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133475"/>
            <a:ext cx="228600" cy="228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1562100"/>
            <a:ext cx="5600700" cy="838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2477913"/>
            <a:ext cx="5600700" cy="914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3451124"/>
            <a:ext cx="5600700" cy="914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87409" y="1133475"/>
            <a:ext cx="257175" cy="228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12002" y="2408596"/>
            <a:ext cx="466725" cy="457200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581C87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SALSA Properties and Benefits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"/>
          <p:cNvSpPr/>
          <p:nvPr/>
        </p:nvSpPr>
        <p:spPr>
          <a:xfrm>
            <a:off x="685800" y="1104900"/>
            <a:ext cx="56007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6B21A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Key Properties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2"/>
          <p:cNvSpPr/>
          <p:nvPr/>
        </p:nvSpPr>
        <p:spPr>
          <a:xfrm>
            <a:off x="533400" y="1659378"/>
            <a:ext cx="63550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7E22CE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Stochastic Normalization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3"/>
          <p:cNvSpPr/>
          <p:nvPr/>
        </p:nvSpPr>
        <p:spPr>
          <a:xfrm>
            <a:off x="533400" y="1934589"/>
            <a:ext cx="52959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Random walks with teleportation, ensuring stable </a:t>
            </a:r>
            <a:b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results regardless of graph structure.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4"/>
          <p:cNvSpPr/>
          <p:nvPr/>
        </p:nvSpPr>
        <p:spPr>
          <a:xfrm>
            <a:off x="533400" y="2630313"/>
            <a:ext cx="52959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7E22CE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Dual Ranking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5"/>
          <p:cNvSpPr/>
          <p:nvPr/>
        </p:nvSpPr>
        <p:spPr>
          <a:xfrm>
            <a:off x="533400" y="2935113"/>
            <a:ext cx="52959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Produces 2 stochastic role rankings (hubs + authorities) </a:t>
            </a:r>
            <a:b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instead of one global ranking.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6"/>
          <p:cNvSpPr/>
          <p:nvPr/>
        </p:nvSpPr>
        <p:spPr>
          <a:xfrm>
            <a:off x="533400" y="3603524"/>
            <a:ext cx="52959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7E22CE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Moderate Sensitivity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7"/>
          <p:cNvSpPr/>
          <p:nvPr/>
        </p:nvSpPr>
        <p:spPr>
          <a:xfrm>
            <a:off x="533400" y="3908324"/>
            <a:ext cx="52959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More robust than HITS but still captures local structure </a:t>
            </a:r>
            <a:b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information effectively.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8"/>
          <p:cNvSpPr/>
          <p:nvPr/>
        </p:nvSpPr>
        <p:spPr>
          <a:xfrm>
            <a:off x="6520784" y="1104900"/>
            <a:ext cx="56007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5803D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Key Benefits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9"/>
          <p:cNvSpPr/>
          <p:nvPr/>
        </p:nvSpPr>
        <p:spPr>
          <a:xfrm>
            <a:off x="6645040" y="1636518"/>
            <a:ext cx="26289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6B21A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Community Detection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10"/>
          <p:cNvSpPr/>
          <p:nvPr/>
        </p:nvSpPr>
        <p:spPr>
          <a:xfrm>
            <a:off x="6645040" y="1865118"/>
            <a:ext cx="1804465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Identifies natural hub and authority clusters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11"/>
          <p:cNvSpPr/>
          <p:nvPr/>
        </p:nvSpPr>
        <p:spPr>
          <a:xfrm>
            <a:off x="9569215" y="1636518"/>
            <a:ext cx="214312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6B21A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Stability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12"/>
          <p:cNvSpPr/>
          <p:nvPr/>
        </p:nvSpPr>
        <p:spPr>
          <a:xfrm>
            <a:off x="9569216" y="1865118"/>
            <a:ext cx="1247252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Robust to graph structure changes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13"/>
          <p:cNvSpPr/>
          <p:nvPr/>
        </p:nvSpPr>
        <p:spPr>
          <a:xfrm>
            <a:off x="6673615" y="2398518"/>
            <a:ext cx="259461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6B21A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Role-Based Ranking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14"/>
          <p:cNvSpPr/>
          <p:nvPr/>
        </p:nvSpPr>
        <p:spPr>
          <a:xfrm>
            <a:off x="6673615" y="2627118"/>
            <a:ext cx="1653018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Hubs &amp; authorities as separate dimensions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15"/>
          <p:cNvSpPr/>
          <p:nvPr/>
        </p:nvSpPr>
        <p:spPr>
          <a:xfrm>
            <a:off x="9588265" y="2398518"/>
            <a:ext cx="28575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6B21A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Hybrid Approach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16"/>
          <p:cNvSpPr/>
          <p:nvPr/>
        </p:nvSpPr>
        <p:spPr>
          <a:xfrm>
            <a:off x="9588265" y="2627118"/>
            <a:ext cx="1597763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Combines global and local information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18"/>
          <p:cNvSpPr/>
          <p:nvPr/>
        </p:nvSpPr>
        <p:spPr>
          <a:xfrm>
            <a:off x="381000" y="6286500"/>
            <a:ext cx="428732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50" b="1" dirty="0">
                <a:solidFill>
                  <a:srgbClr val="6B21A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SALSA</a:t>
            </a:r>
            <a:r>
              <a:rPr lang="en-US" sz="1050" dirty="0">
                <a:solidFill>
                  <a:srgbClr val="6B728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 (</a:t>
            </a:r>
            <a:r>
              <a:rPr lang="en-US" sz="1050" b="1" dirty="0">
                <a:solidFill>
                  <a:srgbClr val="15803D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Stochastic Approach for Link-Structure Analysis)</a:t>
            </a:r>
          </a:p>
        </p:txBody>
      </p:sp>
      <p:sp>
        <p:nvSpPr>
          <p:cNvPr id="38" name="Text 19"/>
          <p:cNvSpPr/>
          <p:nvPr/>
        </p:nvSpPr>
        <p:spPr>
          <a:xfrm>
            <a:off x="11341894" y="6286500"/>
            <a:ext cx="56292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11 / 17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9" name="Image 9" descr="preencoded.png">
            <a:extLst>
              <a:ext uri="{FF2B5EF4-FFF2-40B4-BE49-F238E27FC236}">
                <a16:creationId xmlns:a16="http://schemas.microsoft.com/office/drawing/2014/main" id="{7C9BC707-A4A0-6383-8C93-1047D32C6A5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01684" y="2529840"/>
            <a:ext cx="466725" cy="457200"/>
          </a:xfrm>
          <a:prstGeom prst="rect">
            <a:avLst/>
          </a:prstGeom>
        </p:spPr>
      </p:pic>
      <p:pic>
        <p:nvPicPr>
          <p:cNvPr id="40" name="Image 9" descr="preencoded.png">
            <a:extLst>
              <a:ext uri="{FF2B5EF4-FFF2-40B4-BE49-F238E27FC236}">
                <a16:creationId xmlns:a16="http://schemas.microsoft.com/office/drawing/2014/main" id="{445466BF-91AA-E3AD-7721-0F4A8E00808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0" y="1697478"/>
            <a:ext cx="466725" cy="457200"/>
          </a:xfrm>
          <a:prstGeom prst="rect">
            <a:avLst/>
          </a:prstGeom>
        </p:spPr>
      </p:pic>
      <p:pic>
        <p:nvPicPr>
          <p:cNvPr id="41" name="Image 9" descr="preencoded.png">
            <a:extLst>
              <a:ext uri="{FF2B5EF4-FFF2-40B4-BE49-F238E27FC236}">
                <a16:creationId xmlns:a16="http://schemas.microsoft.com/office/drawing/2014/main" id="{FF7A1D0A-0426-17EA-219B-AEA41B2CF2C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12002" y="1684696"/>
            <a:ext cx="466725" cy="457200"/>
          </a:xfrm>
          <a:prstGeom prst="rect">
            <a:avLst/>
          </a:prstGeom>
        </p:spPr>
      </p:pic>
      <p:pic>
        <p:nvPicPr>
          <p:cNvPr id="12" name="Image 3" descr="preencoded.png">
            <a:extLst>
              <a:ext uri="{FF2B5EF4-FFF2-40B4-BE49-F238E27FC236}">
                <a16:creationId xmlns:a16="http://schemas.microsoft.com/office/drawing/2014/main" id="{B0118BA1-AD50-C13D-9295-8DCC8A70E12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01684" y="3147775"/>
            <a:ext cx="5600700" cy="555562"/>
          </a:xfrm>
          <a:prstGeom prst="rect">
            <a:avLst/>
          </a:prstGeom>
        </p:spPr>
      </p:pic>
      <p:pic>
        <p:nvPicPr>
          <p:cNvPr id="13" name="Image 4" descr="preencoded.png">
            <a:extLst>
              <a:ext uri="{FF2B5EF4-FFF2-40B4-BE49-F238E27FC236}">
                <a16:creationId xmlns:a16="http://schemas.microsoft.com/office/drawing/2014/main" id="{ED3EBED4-9221-37FB-45C7-FD9BF509FF4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54084" y="3338274"/>
            <a:ext cx="190500" cy="190500"/>
          </a:xfrm>
          <a:prstGeom prst="rect">
            <a:avLst/>
          </a:prstGeom>
        </p:spPr>
      </p:pic>
      <p:sp>
        <p:nvSpPr>
          <p:cNvPr id="14" name="Text 7">
            <a:extLst>
              <a:ext uri="{FF2B5EF4-FFF2-40B4-BE49-F238E27FC236}">
                <a16:creationId xmlns:a16="http://schemas.microsoft.com/office/drawing/2014/main" id="{C9555E11-A49D-A5D4-6BD9-499298D254DB}"/>
              </a:ext>
            </a:extLst>
          </p:cNvPr>
          <p:cNvSpPr/>
          <p:nvPr/>
        </p:nvSpPr>
        <p:spPr>
          <a:xfrm>
            <a:off x="6520784" y="3300174"/>
            <a:ext cx="52959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1500" b="1" dirty="0">
                <a:solidFill>
                  <a:srgbClr val="6B21A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Transition Matrices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b="1" dirty="0">
                <a:solidFill>
                  <a:srgbClr val="6B21A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P</a:t>
            </a:r>
            <a:r>
              <a:rPr lang="en-US" sz="1400" b="1" dirty="0">
                <a:solidFill>
                  <a:srgbClr val="6B21A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a</a:t>
            </a:r>
            <a:r>
              <a:rPr lang="en-US" sz="1500" b="1" dirty="0">
                <a:solidFill>
                  <a:srgbClr val="6B21A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 &amp; P</a:t>
            </a:r>
            <a:r>
              <a:rPr lang="en-US" sz="1200" b="1" dirty="0">
                <a:solidFill>
                  <a:srgbClr val="6B21A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h</a:t>
            </a:r>
            <a:r>
              <a:rPr lang="en-US" sz="1500" b="1" dirty="0">
                <a:solidFill>
                  <a:srgbClr val="6B21A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 + PageRank applied on them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9" name="Image 3" descr="preencoded.png">
            <a:extLst>
              <a:ext uri="{FF2B5EF4-FFF2-40B4-BE49-F238E27FC236}">
                <a16:creationId xmlns:a16="http://schemas.microsoft.com/office/drawing/2014/main" id="{E49CEF5E-D2B2-3AE1-E66D-284374D9FA9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10941" y="3772006"/>
            <a:ext cx="5600700" cy="1438275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EEF1E416-E668-CFC5-74EA-55C7451C818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84310" y="4039694"/>
            <a:ext cx="2908532" cy="83423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104900"/>
            <a:ext cx="3665934" cy="4229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651" y="1237192"/>
            <a:ext cx="285750" cy="228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1651" y="1617578"/>
            <a:ext cx="3361134" cy="381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142" y="2056718"/>
            <a:ext cx="3361134" cy="381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142" y="2513918"/>
            <a:ext cx="3361134" cy="381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4768" y="3446992"/>
            <a:ext cx="3361134" cy="6096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142" y="4057650"/>
            <a:ext cx="3361134" cy="381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142" y="3886200"/>
            <a:ext cx="3361134" cy="381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32684" y="1162050"/>
            <a:ext cx="228600" cy="2286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55886" y="1676400"/>
            <a:ext cx="3653433" cy="8382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08286" y="1866900"/>
            <a:ext cx="190500" cy="1905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55886" y="2628900"/>
            <a:ext cx="3653433" cy="8382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08286" y="2819400"/>
            <a:ext cx="219075" cy="1905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55886" y="3619500"/>
            <a:ext cx="3653433" cy="8382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08286" y="3810000"/>
            <a:ext cx="219075" cy="1905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57567" y="1143000"/>
            <a:ext cx="200025" cy="2286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92691" y="1676400"/>
            <a:ext cx="3653433" cy="10668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92691" y="2895600"/>
            <a:ext cx="3653433" cy="10668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192691" y="4114800"/>
            <a:ext cx="3653433" cy="1066800"/>
          </a:xfrm>
          <a:prstGeom prst="rect">
            <a:avLst/>
          </a:prstGeom>
        </p:spPr>
      </p:pic>
      <p:sp>
        <p:nvSpPr>
          <p:cNvPr id="25" name="Text 0"/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581C87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Experimental Setup and Datasets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1"/>
          <p:cNvSpPr/>
          <p:nvPr/>
        </p:nvSpPr>
        <p:spPr>
          <a:xfrm>
            <a:off x="913601" y="1151689"/>
            <a:ext cx="3361134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6B21A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Framework &amp; Parameters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"/>
          <p:cNvSpPr/>
          <p:nvPr/>
        </p:nvSpPr>
        <p:spPr>
          <a:xfrm>
            <a:off x="627851" y="1617578"/>
            <a:ext cx="1820168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Parameter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3"/>
          <p:cNvSpPr/>
          <p:nvPr/>
        </p:nvSpPr>
        <p:spPr>
          <a:xfrm>
            <a:off x="2448019" y="1617578"/>
            <a:ext cx="1540966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Value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4"/>
          <p:cNvSpPr/>
          <p:nvPr/>
        </p:nvSpPr>
        <p:spPr>
          <a:xfrm>
            <a:off x="590342" y="2209118"/>
            <a:ext cx="2184202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Damping Factor (α)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5"/>
          <p:cNvSpPr/>
          <p:nvPr/>
        </p:nvSpPr>
        <p:spPr>
          <a:xfrm>
            <a:off x="2521416" y="2209118"/>
            <a:ext cx="184916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0.85  (PageRank)</a:t>
            </a:r>
            <a:endParaRPr lang="en-US" sz="1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6"/>
          <p:cNvSpPr/>
          <p:nvPr/>
        </p:nvSpPr>
        <p:spPr>
          <a:xfrm>
            <a:off x="590342" y="2590118"/>
            <a:ext cx="2184202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Maximum Iterations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7"/>
          <p:cNvSpPr/>
          <p:nvPr/>
        </p:nvSpPr>
        <p:spPr>
          <a:xfrm>
            <a:off x="2887206" y="2589012"/>
            <a:ext cx="1540966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1000</a:t>
            </a:r>
            <a:endParaRPr lang="en-US" sz="1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8"/>
          <p:cNvSpPr/>
          <p:nvPr/>
        </p:nvSpPr>
        <p:spPr>
          <a:xfrm>
            <a:off x="581710" y="2989110"/>
            <a:ext cx="1820168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Convergence Threshold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9"/>
          <p:cNvSpPr/>
          <p:nvPr/>
        </p:nvSpPr>
        <p:spPr>
          <a:xfrm>
            <a:off x="2903995" y="2989110"/>
            <a:ext cx="1540966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1e-6</a:t>
            </a:r>
            <a:endParaRPr lang="en-US" sz="1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10"/>
          <p:cNvSpPr/>
          <p:nvPr/>
        </p:nvSpPr>
        <p:spPr>
          <a:xfrm>
            <a:off x="571084" y="3829050"/>
            <a:ext cx="2184202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Teleportation</a:t>
            </a:r>
            <a:r>
              <a:rPr lang="en-US" sz="1200" b="1" dirty="0">
                <a:solidFill>
                  <a:srgbClr val="00000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00000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Vector</a:t>
            </a:r>
          </a:p>
        </p:txBody>
      </p:sp>
      <p:sp>
        <p:nvSpPr>
          <p:cNvPr id="36" name="Text 11"/>
          <p:cNvSpPr/>
          <p:nvPr/>
        </p:nvSpPr>
        <p:spPr>
          <a:xfrm>
            <a:off x="2639087" y="3807836"/>
            <a:ext cx="184916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Uniform (1/n)</a:t>
            </a:r>
            <a:endParaRPr lang="en-US" sz="1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12"/>
          <p:cNvSpPr/>
          <p:nvPr/>
        </p:nvSpPr>
        <p:spPr>
          <a:xfrm>
            <a:off x="571084" y="4210050"/>
            <a:ext cx="2184202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Random Restart Rate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13"/>
          <p:cNvSpPr/>
          <p:nvPr/>
        </p:nvSpPr>
        <p:spPr>
          <a:xfrm>
            <a:off x="2631155" y="4245986"/>
            <a:ext cx="184916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1-α = 0.15</a:t>
            </a:r>
            <a:endParaRPr lang="en-US" sz="1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14"/>
          <p:cNvSpPr/>
          <p:nvPr/>
        </p:nvSpPr>
        <p:spPr>
          <a:xfrm>
            <a:off x="571084" y="4591050"/>
            <a:ext cx="2184202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Normalization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15"/>
          <p:cNvSpPr/>
          <p:nvPr/>
        </p:nvSpPr>
        <p:spPr>
          <a:xfrm>
            <a:off x="2631155" y="4626986"/>
            <a:ext cx="1540966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Stochastic (sum=1)</a:t>
            </a:r>
            <a:endParaRPr lang="en-US" sz="1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16"/>
          <p:cNvSpPr/>
          <p:nvPr/>
        </p:nvSpPr>
        <p:spPr>
          <a:xfrm>
            <a:off x="4637484" y="1123950"/>
            <a:ext cx="4384119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6B21A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Evaluation Metrics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17"/>
          <p:cNvSpPr/>
          <p:nvPr/>
        </p:nvSpPr>
        <p:spPr>
          <a:xfrm>
            <a:off x="4674986" y="1828800"/>
            <a:ext cx="334863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7E22CE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Accuracy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18"/>
          <p:cNvSpPr/>
          <p:nvPr/>
        </p:nvSpPr>
        <p:spPr>
          <a:xfrm>
            <a:off x="4408286" y="2171700"/>
            <a:ext cx="401835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Proportion of correctly ranked nodes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 21"/>
          <p:cNvSpPr/>
          <p:nvPr/>
        </p:nvSpPr>
        <p:spPr>
          <a:xfrm>
            <a:off x="4703561" y="2781300"/>
            <a:ext cx="401835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7E22CE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Computational Time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 22"/>
          <p:cNvSpPr/>
          <p:nvPr/>
        </p:nvSpPr>
        <p:spPr>
          <a:xfrm>
            <a:off x="4408286" y="3124200"/>
            <a:ext cx="401835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Execution time and convergence rate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 23"/>
          <p:cNvSpPr/>
          <p:nvPr/>
        </p:nvSpPr>
        <p:spPr>
          <a:xfrm>
            <a:off x="4703561" y="3771900"/>
            <a:ext cx="334863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7E22CE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Scalability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 24"/>
          <p:cNvSpPr/>
          <p:nvPr/>
        </p:nvSpPr>
        <p:spPr>
          <a:xfrm>
            <a:off x="4408286" y="4114800"/>
            <a:ext cx="401835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Performance on varying network sizes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 25"/>
          <p:cNvSpPr/>
          <p:nvPr/>
        </p:nvSpPr>
        <p:spPr>
          <a:xfrm>
            <a:off x="8433792" y="1104900"/>
            <a:ext cx="4384119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6B21A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  <a:hlinkClick r:id="rId18"/>
              </a:rPr>
              <a:t>Dataset Characteristics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 26"/>
          <p:cNvSpPr/>
          <p:nvPr/>
        </p:nvSpPr>
        <p:spPr>
          <a:xfrm>
            <a:off x="8345091" y="1828800"/>
            <a:ext cx="334863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1500" dirty="0">
                <a:solidFill>
                  <a:srgbClr val="7E22CE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  <a:hlinkClick r:id="rId19"/>
              </a:rPr>
              <a:t>Web Graphs </a:t>
            </a:r>
            <a:r>
              <a:rPr lang="en-US" sz="1500" dirty="0">
                <a:solidFill>
                  <a:srgbClr val="7E22CE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ego-Facebook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 27"/>
          <p:cNvSpPr/>
          <p:nvPr/>
        </p:nvSpPr>
        <p:spPr>
          <a:xfrm>
            <a:off x="8345091" y="2171700"/>
            <a:ext cx="401835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Directed links between web pages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 28"/>
          <p:cNvSpPr/>
          <p:nvPr/>
        </p:nvSpPr>
        <p:spPr>
          <a:xfrm>
            <a:off x="8345091" y="2400300"/>
            <a:ext cx="401835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Global structure analysis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 29"/>
          <p:cNvSpPr/>
          <p:nvPr/>
        </p:nvSpPr>
        <p:spPr>
          <a:xfrm>
            <a:off x="8345091" y="3048000"/>
            <a:ext cx="401835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1500" dirty="0">
                <a:solidFill>
                  <a:srgbClr val="7E22CE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  <a:hlinkClick r:id="rId20"/>
              </a:rPr>
              <a:t>Social Networks</a:t>
            </a:r>
            <a:r>
              <a:rPr lang="en-US" sz="1500" dirty="0">
                <a:solidFill>
                  <a:srgbClr val="7E22CE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 soc-sign-bitcoin-</a:t>
            </a:r>
            <a:r>
              <a:rPr lang="en-US" sz="1500" dirty="0" err="1">
                <a:solidFill>
                  <a:srgbClr val="7E22CE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otc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 30"/>
          <p:cNvSpPr/>
          <p:nvPr/>
        </p:nvSpPr>
        <p:spPr>
          <a:xfrm>
            <a:off x="8345091" y="3390900"/>
            <a:ext cx="401835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User-follow relationships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 31"/>
          <p:cNvSpPr/>
          <p:nvPr/>
        </p:nvSpPr>
        <p:spPr>
          <a:xfrm>
            <a:off x="8345091" y="3619500"/>
            <a:ext cx="3348633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Community detection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 32"/>
          <p:cNvSpPr/>
          <p:nvPr/>
        </p:nvSpPr>
        <p:spPr>
          <a:xfrm>
            <a:off x="8345091" y="4267200"/>
            <a:ext cx="401835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1500" dirty="0">
                <a:solidFill>
                  <a:srgbClr val="7E22CE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  <a:hlinkClick r:id="rId21"/>
              </a:rPr>
              <a:t>Academic Networks </a:t>
            </a:r>
            <a:r>
              <a:rPr lang="en-US" sz="1500" dirty="0">
                <a:solidFill>
                  <a:srgbClr val="7E22CE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wiki-Vote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 33"/>
          <p:cNvSpPr/>
          <p:nvPr/>
        </p:nvSpPr>
        <p:spPr>
          <a:xfrm>
            <a:off x="8345091" y="4610100"/>
            <a:ext cx="3348633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Citation patterns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 34"/>
          <p:cNvSpPr/>
          <p:nvPr/>
        </p:nvSpPr>
        <p:spPr>
          <a:xfrm>
            <a:off x="8345091" y="4838700"/>
            <a:ext cx="3348633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Authority detection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 35"/>
          <p:cNvSpPr/>
          <p:nvPr/>
        </p:nvSpPr>
        <p:spPr>
          <a:xfrm>
            <a:off x="381000" y="6286500"/>
            <a:ext cx="428732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50" b="1" dirty="0">
                <a:solidFill>
                  <a:srgbClr val="6B21A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SALSA</a:t>
            </a:r>
            <a:r>
              <a:rPr lang="en-US" sz="1050" dirty="0">
                <a:solidFill>
                  <a:srgbClr val="6B728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 (</a:t>
            </a:r>
            <a:r>
              <a:rPr lang="en-US" sz="1050" b="1" dirty="0">
                <a:solidFill>
                  <a:srgbClr val="15803D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Stochastic Approach for Link-Structure Analysis)</a:t>
            </a:r>
          </a:p>
        </p:txBody>
      </p:sp>
      <p:sp>
        <p:nvSpPr>
          <p:cNvPr id="61" name="Text 36"/>
          <p:cNvSpPr/>
          <p:nvPr/>
        </p:nvSpPr>
        <p:spPr>
          <a:xfrm>
            <a:off x="11341894" y="6286500"/>
            <a:ext cx="56292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12 / 17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2" name="Image 1" descr="preencoded.png">
            <a:extLst>
              <a:ext uri="{FF2B5EF4-FFF2-40B4-BE49-F238E27FC236}">
                <a16:creationId xmlns:a16="http://schemas.microsoft.com/office/drawing/2014/main" id="{5227F211-D7A6-8BD3-D1F5-F80C8B1E6B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973" y="3462608"/>
            <a:ext cx="3162955" cy="4571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17232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524000"/>
            <a:ext cx="2078087" cy="419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59087" y="1524000"/>
            <a:ext cx="3117205" cy="4191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6923" y="1657350"/>
            <a:ext cx="152400" cy="152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91859" y="1526646"/>
            <a:ext cx="3117205" cy="4191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37104" y="1659996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6292" y="1524000"/>
            <a:ext cx="3117503" cy="4191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44444" y="1657350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1018" y="2057400"/>
            <a:ext cx="2078087" cy="381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60030" y="2070628"/>
            <a:ext cx="3117205" cy="381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92802" y="2073274"/>
            <a:ext cx="3117205" cy="3810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04275" y="2168524"/>
            <a:ext cx="3117503" cy="3810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1000" y="2324100"/>
            <a:ext cx="11430000" cy="381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1018" y="2438400"/>
            <a:ext cx="2078087" cy="3810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60030" y="2451628"/>
            <a:ext cx="3117205" cy="3810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77235" y="2451628"/>
            <a:ext cx="3117205" cy="3810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77235" y="2451628"/>
            <a:ext cx="3117503" cy="3810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1018" y="2819400"/>
            <a:ext cx="2078087" cy="3810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60030" y="2832628"/>
            <a:ext cx="3117205" cy="3810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77235" y="2832628"/>
            <a:ext cx="3117205" cy="3810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04275" y="2930524"/>
            <a:ext cx="3117503" cy="3810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1000" y="3086100"/>
            <a:ext cx="11430000" cy="3810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1018" y="3200400"/>
            <a:ext cx="2078087" cy="3810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60030" y="3213628"/>
            <a:ext cx="3117205" cy="3810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77235" y="3213628"/>
            <a:ext cx="3117205" cy="3810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04275" y="3311524"/>
            <a:ext cx="3117503" cy="3810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1018" y="3581400"/>
            <a:ext cx="2078087" cy="3810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60030" y="3594628"/>
            <a:ext cx="3117205" cy="3810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77235" y="3594628"/>
            <a:ext cx="3117205" cy="3810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1000" y="4076700"/>
            <a:ext cx="3708350" cy="12954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3400" y="4168775"/>
            <a:ext cx="171450" cy="17145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02650" y="4076700"/>
            <a:ext cx="3708350" cy="129540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255050" y="4168775"/>
            <a:ext cx="190500" cy="171450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232123" y="4074583"/>
            <a:ext cx="3708499" cy="1295400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384523" y="4166658"/>
            <a:ext cx="190500" cy="171450"/>
          </a:xfrm>
          <a:prstGeom prst="rect">
            <a:avLst/>
          </a:prstGeom>
        </p:spPr>
      </p:pic>
      <p:pic>
        <p:nvPicPr>
          <p:cNvPr id="39" name="Image 3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1000" y="5524500"/>
            <a:ext cx="11430000" cy="1028700"/>
          </a:xfrm>
          <a:prstGeom prst="rect">
            <a:avLst/>
          </a:prstGeom>
        </p:spPr>
      </p:pic>
      <p:pic>
        <p:nvPicPr>
          <p:cNvPr id="40" name="Image 3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33400" y="5628217"/>
            <a:ext cx="133350" cy="171450"/>
          </a:xfrm>
          <a:prstGeom prst="rect">
            <a:avLst/>
          </a:prstGeom>
        </p:spPr>
      </p:pic>
      <p:sp>
        <p:nvSpPr>
          <p:cNvPr id="41" name="Text 0"/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581C87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Comparative Results Analysis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1"/>
          <p:cNvSpPr/>
          <p:nvPr/>
        </p:nvSpPr>
        <p:spPr>
          <a:xfrm>
            <a:off x="381000" y="1104900"/>
            <a:ext cx="13716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Performance comparison across different graph structures and applications: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2"/>
          <p:cNvSpPr/>
          <p:nvPr/>
        </p:nvSpPr>
        <p:spPr>
          <a:xfrm>
            <a:off x="173190" y="1613958"/>
            <a:ext cx="2493705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Characteristic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3"/>
          <p:cNvSpPr/>
          <p:nvPr/>
        </p:nvSpPr>
        <p:spPr>
          <a:xfrm>
            <a:off x="3620229" y="1619250"/>
            <a:ext cx="102352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PageRank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4"/>
          <p:cNvSpPr/>
          <p:nvPr/>
        </p:nvSpPr>
        <p:spPr>
          <a:xfrm>
            <a:off x="10125907" y="1621896"/>
            <a:ext cx="4775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HITS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 5"/>
          <p:cNvSpPr/>
          <p:nvPr/>
        </p:nvSpPr>
        <p:spPr>
          <a:xfrm>
            <a:off x="6917784" y="1619250"/>
            <a:ext cx="66311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SALSA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 6"/>
          <p:cNvSpPr/>
          <p:nvPr/>
        </p:nvSpPr>
        <p:spPr>
          <a:xfrm>
            <a:off x="193209" y="2057400"/>
            <a:ext cx="2493705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Normalization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 7"/>
          <p:cNvSpPr/>
          <p:nvPr/>
        </p:nvSpPr>
        <p:spPr>
          <a:xfrm>
            <a:off x="2148310" y="2070628"/>
            <a:ext cx="3740646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Stochastic (probabilistic)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 8"/>
          <p:cNvSpPr/>
          <p:nvPr/>
        </p:nvSpPr>
        <p:spPr>
          <a:xfrm>
            <a:off x="8381082" y="2073274"/>
            <a:ext cx="3740646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Algebraic (eigenvector)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 9"/>
          <p:cNvSpPr/>
          <p:nvPr/>
        </p:nvSpPr>
        <p:spPr>
          <a:xfrm>
            <a:off x="5265485" y="2070628"/>
            <a:ext cx="3741003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Stochastic (probabilistic!)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 10"/>
          <p:cNvSpPr/>
          <p:nvPr/>
        </p:nvSpPr>
        <p:spPr>
          <a:xfrm>
            <a:off x="193209" y="2438400"/>
            <a:ext cx="2493705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Random 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walks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 11"/>
          <p:cNvSpPr/>
          <p:nvPr/>
        </p:nvSpPr>
        <p:spPr>
          <a:xfrm>
            <a:off x="2148310" y="2451628"/>
            <a:ext cx="3740646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Global with teleportation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 12"/>
          <p:cNvSpPr/>
          <p:nvPr/>
        </p:nvSpPr>
        <p:spPr>
          <a:xfrm>
            <a:off x="8692802" y="2454274"/>
            <a:ext cx="3117205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None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 13"/>
          <p:cNvSpPr/>
          <p:nvPr/>
        </p:nvSpPr>
        <p:spPr>
          <a:xfrm>
            <a:off x="5265485" y="2451628"/>
            <a:ext cx="3741003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2-step on bipartite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 14"/>
          <p:cNvSpPr/>
          <p:nvPr/>
        </p:nvSpPr>
        <p:spPr>
          <a:xfrm>
            <a:off x="401018" y="2819400"/>
            <a:ext cx="2078087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Sensitivity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 15"/>
          <p:cNvSpPr/>
          <p:nvPr/>
        </p:nvSpPr>
        <p:spPr>
          <a:xfrm>
            <a:off x="2460030" y="2832628"/>
            <a:ext cx="3117205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Global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 16"/>
          <p:cNvSpPr/>
          <p:nvPr/>
        </p:nvSpPr>
        <p:spPr>
          <a:xfrm>
            <a:off x="8381082" y="2835274"/>
            <a:ext cx="3740646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Local (query-based)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 17"/>
          <p:cNvSpPr/>
          <p:nvPr/>
        </p:nvSpPr>
        <p:spPr>
          <a:xfrm>
            <a:off x="5577235" y="2832628"/>
            <a:ext cx="3117503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Moderate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 18"/>
          <p:cNvSpPr/>
          <p:nvPr/>
        </p:nvSpPr>
        <p:spPr>
          <a:xfrm>
            <a:off x="401018" y="3200400"/>
            <a:ext cx="2078087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Output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 19"/>
          <p:cNvSpPr/>
          <p:nvPr/>
        </p:nvSpPr>
        <p:spPr>
          <a:xfrm>
            <a:off x="2460030" y="3213628"/>
            <a:ext cx="3117205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Global importance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 20"/>
          <p:cNvSpPr/>
          <p:nvPr/>
        </p:nvSpPr>
        <p:spPr>
          <a:xfrm>
            <a:off x="8381082" y="3216274"/>
            <a:ext cx="3740646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Hubs &amp; authorities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 21"/>
          <p:cNvSpPr/>
          <p:nvPr/>
        </p:nvSpPr>
        <p:spPr>
          <a:xfrm>
            <a:off x="5265485" y="3213628"/>
            <a:ext cx="3741003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Stochastic hubs &amp; authorities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Text 22"/>
          <p:cNvSpPr/>
          <p:nvPr/>
        </p:nvSpPr>
        <p:spPr>
          <a:xfrm>
            <a:off x="401018" y="3581400"/>
            <a:ext cx="2078087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Convergence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Text 23"/>
          <p:cNvSpPr/>
          <p:nvPr/>
        </p:nvSpPr>
        <p:spPr>
          <a:xfrm>
            <a:off x="2148310" y="3594628"/>
            <a:ext cx="3740646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Guaranteed (ergodic)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Text 24"/>
          <p:cNvSpPr/>
          <p:nvPr/>
        </p:nvSpPr>
        <p:spPr>
          <a:xfrm>
            <a:off x="8381082" y="3597274"/>
            <a:ext cx="3740646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Depends on structure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Text 25"/>
          <p:cNvSpPr/>
          <p:nvPr/>
        </p:nvSpPr>
        <p:spPr>
          <a:xfrm>
            <a:off x="5265485" y="3594628"/>
            <a:ext cx="3741003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Guaranteed (Markov chain)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Text 26"/>
          <p:cNvSpPr/>
          <p:nvPr/>
        </p:nvSpPr>
        <p:spPr>
          <a:xfrm>
            <a:off x="781050" y="4140200"/>
            <a:ext cx="40842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6B21A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PageRank Strengths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Text 27"/>
          <p:cNvSpPr/>
          <p:nvPr/>
        </p:nvSpPr>
        <p:spPr>
          <a:xfrm>
            <a:off x="533400" y="4572000"/>
            <a:ext cx="40842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Very stable (teleportation)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Text 28"/>
          <p:cNvSpPr/>
          <p:nvPr/>
        </p:nvSpPr>
        <p:spPr>
          <a:xfrm>
            <a:off x="533400" y="4800600"/>
            <a:ext cx="40842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Global importance measurement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Text 29"/>
          <p:cNvSpPr/>
          <p:nvPr/>
        </p:nvSpPr>
        <p:spPr>
          <a:xfrm>
            <a:off x="533400" y="5029200"/>
            <a:ext cx="40842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Guaranteed convergence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Text 30"/>
          <p:cNvSpPr/>
          <p:nvPr/>
        </p:nvSpPr>
        <p:spPr>
          <a:xfrm>
            <a:off x="8521750" y="4140200"/>
            <a:ext cx="34035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EA580C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HITS Strengths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Text 31"/>
          <p:cNvSpPr/>
          <p:nvPr/>
        </p:nvSpPr>
        <p:spPr>
          <a:xfrm>
            <a:off x="8255050" y="4572000"/>
            <a:ext cx="40842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Topic-specific analysis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Text 32"/>
          <p:cNvSpPr/>
          <p:nvPr/>
        </p:nvSpPr>
        <p:spPr>
          <a:xfrm>
            <a:off x="8255050" y="4800600"/>
            <a:ext cx="40842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Clear role separation (hubs/auths)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Text 33"/>
          <p:cNvSpPr/>
          <p:nvPr/>
        </p:nvSpPr>
        <p:spPr>
          <a:xfrm>
            <a:off x="8255050" y="5029200"/>
            <a:ext cx="40842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Identifies link structure patterns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Text 34"/>
          <p:cNvSpPr/>
          <p:nvPr/>
        </p:nvSpPr>
        <p:spPr>
          <a:xfrm>
            <a:off x="4651223" y="4138083"/>
            <a:ext cx="340369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5803D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SALSA Strengths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Text 35"/>
          <p:cNvSpPr/>
          <p:nvPr/>
        </p:nvSpPr>
        <p:spPr>
          <a:xfrm>
            <a:off x="4384523" y="4569883"/>
            <a:ext cx="408443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Robust stochastic approach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Text 36"/>
          <p:cNvSpPr/>
          <p:nvPr/>
        </p:nvSpPr>
        <p:spPr>
          <a:xfrm>
            <a:off x="4384523" y="4798483"/>
            <a:ext cx="408443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Community discovery capability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Text 37"/>
          <p:cNvSpPr/>
          <p:nvPr/>
        </p:nvSpPr>
        <p:spPr>
          <a:xfrm>
            <a:off x="4384523" y="5027083"/>
            <a:ext cx="408443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Hybrid ranking performance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Text 38"/>
          <p:cNvSpPr/>
          <p:nvPr/>
        </p:nvSpPr>
        <p:spPr>
          <a:xfrm>
            <a:off x="742950" y="5579004"/>
            <a:ext cx="11125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6B21A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Application Recommendations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Text 39"/>
          <p:cNvSpPr/>
          <p:nvPr/>
        </p:nvSpPr>
        <p:spPr>
          <a:xfrm>
            <a:off x="533400" y="6019800"/>
            <a:ext cx="432804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461E64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Web search ranking:</a:t>
            </a:r>
            <a:r>
              <a:rPr lang="en-US" sz="1400" dirty="0">
                <a:solidFill>
                  <a:srgbClr val="461E64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PageRank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Text 40"/>
          <p:cNvSpPr/>
          <p:nvPr/>
        </p:nvSpPr>
        <p:spPr>
          <a:xfrm>
            <a:off x="533400" y="6210300"/>
            <a:ext cx="432804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461E64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Link analysis:</a:t>
            </a:r>
            <a:r>
              <a:rPr lang="en-US" sz="1400" dirty="0">
                <a:solidFill>
                  <a:srgbClr val="461E64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PageRank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Text 41"/>
          <p:cNvSpPr/>
          <p:nvPr/>
        </p:nvSpPr>
        <p:spPr>
          <a:xfrm>
            <a:off x="8244780" y="6062662"/>
            <a:ext cx="43282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FD8003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Topic-specific search:</a:t>
            </a:r>
            <a:r>
              <a:rPr lang="en-US" sz="1400" dirty="0">
                <a:solidFill>
                  <a:srgbClr val="FD8003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HITS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Text 42"/>
          <p:cNvSpPr/>
          <p:nvPr/>
        </p:nvSpPr>
        <p:spPr>
          <a:xfrm>
            <a:off x="8244780" y="6253162"/>
            <a:ext cx="43282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FD8003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Link structure analysis:</a:t>
            </a:r>
            <a:r>
              <a:rPr lang="en-US" sz="1400" dirty="0">
                <a:solidFill>
                  <a:srgbClr val="FD8003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HITS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Text 43"/>
          <p:cNvSpPr/>
          <p:nvPr/>
        </p:nvSpPr>
        <p:spPr>
          <a:xfrm>
            <a:off x="4384523" y="6024561"/>
            <a:ext cx="432804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Community discovery:</a:t>
            </a:r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SALSA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Text 44"/>
          <p:cNvSpPr/>
          <p:nvPr/>
        </p:nvSpPr>
        <p:spPr>
          <a:xfrm>
            <a:off x="4384523" y="6215061"/>
            <a:ext cx="360670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Hybrid ranking:</a:t>
            </a:r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SALSA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Text 45"/>
          <p:cNvSpPr/>
          <p:nvPr/>
        </p:nvSpPr>
        <p:spPr>
          <a:xfrm>
            <a:off x="381000" y="6825192"/>
            <a:ext cx="428732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50" b="1" dirty="0">
                <a:solidFill>
                  <a:srgbClr val="6B21A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SALSA</a:t>
            </a:r>
            <a:r>
              <a:rPr lang="en-US" sz="1050" dirty="0">
                <a:solidFill>
                  <a:srgbClr val="6B728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 (</a:t>
            </a:r>
            <a:r>
              <a:rPr lang="en-US" sz="1050" b="1" dirty="0">
                <a:solidFill>
                  <a:srgbClr val="15803D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Stochastic Approach for Link-Structure Analysis)</a:t>
            </a:r>
          </a:p>
        </p:txBody>
      </p:sp>
      <p:sp>
        <p:nvSpPr>
          <p:cNvPr id="87" name="Text 46"/>
          <p:cNvSpPr/>
          <p:nvPr/>
        </p:nvSpPr>
        <p:spPr>
          <a:xfrm>
            <a:off x="11305222" y="6858000"/>
            <a:ext cx="56292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13 / 17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024" y="1123950"/>
            <a:ext cx="11368693" cy="4572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1104900"/>
            <a:ext cx="2857500" cy="457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38500" y="1104900"/>
            <a:ext cx="2857500" cy="457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41992" y="1104900"/>
            <a:ext cx="2868434" cy="46906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85066" y="1104900"/>
            <a:ext cx="2857500" cy="4572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562100"/>
            <a:ext cx="11430000" cy="4572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4688" y="1704975"/>
            <a:ext cx="1905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37832" y="1714500"/>
            <a:ext cx="123825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53751" y="1714500"/>
            <a:ext cx="123825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1000" y="2019300"/>
            <a:ext cx="11430000" cy="685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55650" y="2276475"/>
            <a:ext cx="1143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081439" y="2171700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175911" y="2297860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28005" y="2171700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2705100"/>
            <a:ext cx="11430000" cy="4572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88393" y="2847975"/>
            <a:ext cx="1143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305127" y="2857500"/>
            <a:ext cx="17145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210737" y="2869360"/>
            <a:ext cx="15240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129071" y="2838450"/>
            <a:ext cx="1524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81000" y="3162300"/>
            <a:ext cx="11430000" cy="4572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229171" y="3305175"/>
            <a:ext cx="171450" cy="152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872186" y="3314700"/>
            <a:ext cx="152400" cy="152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1106855" y="3326560"/>
            <a:ext cx="152400" cy="152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129071" y="3314700"/>
            <a:ext cx="152400" cy="1524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81000" y="3924300"/>
            <a:ext cx="3784548" cy="1916518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02721" y="4029075"/>
            <a:ext cx="171450" cy="17145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024059" y="3924299"/>
            <a:ext cx="3784551" cy="1916519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145781" y="4029075"/>
            <a:ext cx="171450" cy="17145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241750" y="3932829"/>
            <a:ext cx="3708499" cy="1916518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363471" y="4037604"/>
            <a:ext cx="133350" cy="171450"/>
          </a:xfrm>
          <a:prstGeom prst="rect">
            <a:avLst/>
          </a:prstGeom>
        </p:spPr>
      </p:pic>
      <p:sp>
        <p:nvSpPr>
          <p:cNvPr id="34" name="Text 0"/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581C87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Algorithm Comparison Summary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1"/>
          <p:cNvSpPr/>
          <p:nvPr/>
        </p:nvSpPr>
        <p:spPr>
          <a:xfrm>
            <a:off x="95250" y="1104900"/>
            <a:ext cx="3429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Comparison Aspect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2"/>
          <p:cNvSpPr/>
          <p:nvPr/>
        </p:nvSpPr>
        <p:spPr>
          <a:xfrm>
            <a:off x="3238500" y="1104900"/>
            <a:ext cx="28575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PageRank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"/>
          <p:cNvSpPr/>
          <p:nvPr/>
        </p:nvSpPr>
        <p:spPr>
          <a:xfrm>
            <a:off x="6096000" y="1104900"/>
            <a:ext cx="28575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1800"/>
              </a:lnSpc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SALSA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ts val="1800"/>
              </a:lnSpc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4"/>
          <p:cNvSpPr/>
          <p:nvPr/>
        </p:nvSpPr>
        <p:spPr>
          <a:xfrm>
            <a:off x="8953500" y="1104900"/>
            <a:ext cx="28575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HITS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5"/>
          <p:cNvSpPr/>
          <p:nvPr/>
        </p:nvSpPr>
        <p:spPr>
          <a:xfrm>
            <a:off x="381000" y="1562100"/>
            <a:ext cx="28575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Normalization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6"/>
          <p:cNvSpPr/>
          <p:nvPr/>
        </p:nvSpPr>
        <p:spPr>
          <a:xfrm>
            <a:off x="4093964" y="1676400"/>
            <a:ext cx="94654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Stochastic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7"/>
          <p:cNvSpPr/>
          <p:nvPr/>
        </p:nvSpPr>
        <p:spPr>
          <a:xfrm>
            <a:off x="9919935" y="1688260"/>
            <a:ext cx="85921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Algebraic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8"/>
          <p:cNvSpPr/>
          <p:nvPr/>
        </p:nvSpPr>
        <p:spPr>
          <a:xfrm>
            <a:off x="6940530" y="1676400"/>
            <a:ext cx="94654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Stochastic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9"/>
          <p:cNvSpPr/>
          <p:nvPr/>
        </p:nvSpPr>
        <p:spPr>
          <a:xfrm>
            <a:off x="381000" y="2019300"/>
            <a:ext cx="28575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ct val="30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Convergence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10"/>
          <p:cNvSpPr/>
          <p:nvPr/>
        </p:nvSpPr>
        <p:spPr>
          <a:xfrm>
            <a:off x="4010040" y="2133600"/>
            <a:ext cx="108567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Guaranteed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11"/>
          <p:cNvSpPr/>
          <p:nvPr/>
        </p:nvSpPr>
        <p:spPr>
          <a:xfrm>
            <a:off x="4291964" y="2409825"/>
            <a:ext cx="619363" cy="1333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(Ergodic)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 12"/>
          <p:cNvSpPr/>
          <p:nvPr/>
        </p:nvSpPr>
        <p:spPr>
          <a:xfrm>
            <a:off x="9281701" y="2259760"/>
            <a:ext cx="198328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Depends on structure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 13"/>
          <p:cNvSpPr/>
          <p:nvPr/>
        </p:nvSpPr>
        <p:spPr>
          <a:xfrm>
            <a:off x="6856606" y="2133600"/>
            <a:ext cx="108567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Guaranteed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 14"/>
          <p:cNvSpPr/>
          <p:nvPr/>
        </p:nvSpPr>
        <p:spPr>
          <a:xfrm>
            <a:off x="6940530" y="2419350"/>
            <a:ext cx="1020485" cy="1333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(Markov chain)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 15"/>
          <p:cNvSpPr/>
          <p:nvPr/>
        </p:nvSpPr>
        <p:spPr>
          <a:xfrm>
            <a:off x="381000" y="2705100"/>
            <a:ext cx="28575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Output Type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 16"/>
          <p:cNvSpPr/>
          <p:nvPr/>
        </p:nvSpPr>
        <p:spPr>
          <a:xfrm>
            <a:off x="3720658" y="2819400"/>
            <a:ext cx="164538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Single global rank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 17"/>
          <p:cNvSpPr/>
          <p:nvPr/>
        </p:nvSpPr>
        <p:spPr>
          <a:xfrm>
            <a:off x="9239910" y="2831260"/>
            <a:ext cx="206686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Two role-specific ranks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 18"/>
          <p:cNvSpPr/>
          <p:nvPr/>
        </p:nvSpPr>
        <p:spPr>
          <a:xfrm>
            <a:off x="6454770" y="2819400"/>
            <a:ext cx="188934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Two stochastic ranks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 19"/>
          <p:cNvSpPr/>
          <p:nvPr/>
        </p:nvSpPr>
        <p:spPr>
          <a:xfrm>
            <a:off x="381000" y="3162300"/>
            <a:ext cx="28575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Sensitivity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 20"/>
          <p:cNvSpPr/>
          <p:nvPr/>
        </p:nvSpPr>
        <p:spPr>
          <a:xfrm>
            <a:off x="4261143" y="3276600"/>
            <a:ext cx="58346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Global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 21"/>
          <p:cNvSpPr/>
          <p:nvPr/>
        </p:nvSpPr>
        <p:spPr>
          <a:xfrm>
            <a:off x="9364568" y="3288460"/>
            <a:ext cx="181754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Local (query-based)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 22"/>
          <p:cNvSpPr/>
          <p:nvPr/>
        </p:nvSpPr>
        <p:spPr>
          <a:xfrm>
            <a:off x="6615489" y="3276600"/>
            <a:ext cx="156805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Moderate, robust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 23"/>
          <p:cNvSpPr/>
          <p:nvPr/>
        </p:nvSpPr>
        <p:spPr>
          <a:xfrm>
            <a:off x="750371" y="3981450"/>
            <a:ext cx="40842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6B21A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Unique Characteristics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 24"/>
          <p:cNvSpPr/>
          <p:nvPr/>
        </p:nvSpPr>
        <p:spPr>
          <a:xfrm>
            <a:off x="533400" y="4438650"/>
            <a:ext cx="340355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PageRank: Global importance </a:t>
            </a:r>
            <a:b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via teleportation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 25"/>
          <p:cNvSpPr/>
          <p:nvPr/>
        </p:nvSpPr>
        <p:spPr>
          <a:xfrm>
            <a:off x="533400" y="4857750"/>
            <a:ext cx="3560564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HITS: Dual role model with </a:t>
            </a:r>
            <a:b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mutual reinforcement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 26"/>
          <p:cNvSpPr/>
          <p:nvPr/>
        </p:nvSpPr>
        <p:spPr>
          <a:xfrm>
            <a:off x="533400" y="5276850"/>
            <a:ext cx="34035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SALSA: Stochastic normalization </a:t>
            </a:r>
            <a:b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ensures stability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 27"/>
          <p:cNvSpPr/>
          <p:nvPr/>
        </p:nvSpPr>
        <p:spPr>
          <a:xfrm>
            <a:off x="8393431" y="3981450"/>
            <a:ext cx="40842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5803D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Algorithm Selection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 28"/>
          <p:cNvSpPr/>
          <p:nvPr/>
        </p:nvSpPr>
        <p:spPr>
          <a:xfrm>
            <a:off x="8176460" y="4419600"/>
            <a:ext cx="40842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Web search: PageRank </a:t>
            </a:r>
            <a:b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(global importance)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Text 29"/>
          <p:cNvSpPr/>
          <p:nvPr/>
        </p:nvSpPr>
        <p:spPr>
          <a:xfrm>
            <a:off x="8176460" y="4819650"/>
            <a:ext cx="40842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Topic-specific search: HITS </a:t>
            </a:r>
            <a:b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(role separation)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Text 30"/>
          <p:cNvSpPr/>
          <p:nvPr/>
        </p:nvSpPr>
        <p:spPr>
          <a:xfrm>
            <a:off x="8176459" y="5219700"/>
            <a:ext cx="3953621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Community discovery: SALSA </a:t>
            </a:r>
            <a:b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(role separation + global importance)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Text 31"/>
          <p:cNvSpPr/>
          <p:nvPr/>
        </p:nvSpPr>
        <p:spPr>
          <a:xfrm>
            <a:off x="4573021" y="3989979"/>
            <a:ext cx="340369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97316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Key Insight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Text 32"/>
          <p:cNvSpPr/>
          <p:nvPr/>
        </p:nvSpPr>
        <p:spPr>
          <a:xfrm>
            <a:off x="4371906" y="4572000"/>
            <a:ext cx="3556099" cy="762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SALSA uniquely combines PageRank's global approach with HITS' role-based separation, creating a robust algorithm that's sensitive to local structure while maintaining global stability.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Text 33"/>
          <p:cNvSpPr/>
          <p:nvPr/>
        </p:nvSpPr>
        <p:spPr>
          <a:xfrm>
            <a:off x="381000" y="6286500"/>
            <a:ext cx="428732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50" b="1" dirty="0">
                <a:solidFill>
                  <a:srgbClr val="6B21A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SALSA</a:t>
            </a:r>
            <a:r>
              <a:rPr lang="en-US" sz="1050" dirty="0">
                <a:solidFill>
                  <a:srgbClr val="6B728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 (</a:t>
            </a:r>
            <a:r>
              <a:rPr lang="en-US" sz="1050" b="1" dirty="0">
                <a:solidFill>
                  <a:srgbClr val="15803D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Stochastic Approach for Link-Structure Analysis)</a:t>
            </a:r>
          </a:p>
        </p:txBody>
      </p:sp>
      <p:sp>
        <p:nvSpPr>
          <p:cNvPr id="68" name="Text 34"/>
          <p:cNvSpPr/>
          <p:nvPr/>
        </p:nvSpPr>
        <p:spPr>
          <a:xfrm>
            <a:off x="11341894" y="6286500"/>
            <a:ext cx="56292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14 / 17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Flowchart: Alternate Process 71">
            <a:extLst>
              <a:ext uri="{FF2B5EF4-FFF2-40B4-BE49-F238E27FC236}">
                <a16:creationId xmlns:a16="http://schemas.microsoft.com/office/drawing/2014/main" id="{EA7FE7AC-1BFF-D703-6282-70047C0B3800}"/>
              </a:ext>
            </a:extLst>
          </p:cNvPr>
          <p:cNvSpPr/>
          <p:nvPr/>
        </p:nvSpPr>
        <p:spPr>
          <a:xfrm>
            <a:off x="3779322" y="1493433"/>
            <a:ext cx="1778000" cy="68668"/>
          </a:xfrm>
          <a:prstGeom prst="flowChartAlternateProcess">
            <a:avLst/>
          </a:prstGeom>
          <a:solidFill>
            <a:srgbClr val="612A8A"/>
          </a:solidFill>
          <a:ln>
            <a:solidFill>
              <a:srgbClr val="612A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12A8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Flowchart: Alternate Process 68">
            <a:extLst>
              <a:ext uri="{FF2B5EF4-FFF2-40B4-BE49-F238E27FC236}">
                <a16:creationId xmlns:a16="http://schemas.microsoft.com/office/drawing/2014/main" id="{3F41E3C5-0BC5-32FC-40FB-627F031DBA4D}"/>
              </a:ext>
            </a:extLst>
          </p:cNvPr>
          <p:cNvSpPr/>
          <p:nvPr/>
        </p:nvSpPr>
        <p:spPr>
          <a:xfrm>
            <a:off x="9486162" y="1522525"/>
            <a:ext cx="1778000" cy="45719"/>
          </a:xfrm>
          <a:prstGeom prst="flowChartAlternateProcess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Flowchart: Alternate Process 69">
            <a:extLst>
              <a:ext uri="{FF2B5EF4-FFF2-40B4-BE49-F238E27FC236}">
                <a16:creationId xmlns:a16="http://schemas.microsoft.com/office/drawing/2014/main" id="{D5E56B64-F47D-2079-8159-5AEDBA2D28BE}"/>
              </a:ext>
            </a:extLst>
          </p:cNvPr>
          <p:cNvSpPr/>
          <p:nvPr/>
        </p:nvSpPr>
        <p:spPr>
          <a:xfrm>
            <a:off x="6622209" y="1528241"/>
            <a:ext cx="1778000" cy="45719"/>
          </a:xfrm>
          <a:prstGeom prst="flowChartAlternateProcess">
            <a:avLst/>
          </a:prstGeom>
          <a:solidFill>
            <a:srgbClr val="FD8003"/>
          </a:solidFill>
          <a:ln>
            <a:solidFill>
              <a:srgbClr val="FD80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12A8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104899"/>
            <a:ext cx="11430000" cy="1894043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450" y="1201415"/>
            <a:ext cx="285750" cy="228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714500"/>
            <a:ext cx="5127277" cy="11049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1714500"/>
            <a:ext cx="266700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8650" y="1771650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48400" y="1714500"/>
            <a:ext cx="266700" cy="266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96025" y="1771650"/>
            <a:ext cx="17145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1000" y="3103186"/>
            <a:ext cx="11430000" cy="2142439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1500" y="3219078"/>
            <a:ext cx="228600" cy="2286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14350" y="3628496"/>
            <a:ext cx="1302841" cy="4191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817191" y="3628496"/>
            <a:ext cx="3261568" cy="4191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078760" y="3628496"/>
            <a:ext cx="3448943" cy="4191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527703" y="3628496"/>
            <a:ext cx="3092797" cy="4191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71500" y="4047596"/>
            <a:ext cx="1245691" cy="4191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04456" y="4189586"/>
            <a:ext cx="1524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778993" y="4114096"/>
            <a:ext cx="3261568" cy="4191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944242" y="4085341"/>
            <a:ext cx="3448943" cy="4191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505305" y="4047596"/>
            <a:ext cx="3092797" cy="4191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14350" y="4848557"/>
            <a:ext cx="11049000" cy="4191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14350" y="4848557"/>
            <a:ext cx="1245691" cy="4191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04456" y="4915563"/>
            <a:ext cx="171450" cy="152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760041" y="4848557"/>
            <a:ext cx="3261568" cy="4191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021610" y="4848557"/>
            <a:ext cx="3448943" cy="4191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470553" y="4848557"/>
            <a:ext cx="3092797" cy="4191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95300" y="4523846"/>
            <a:ext cx="1245691" cy="4191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04825" y="4542896"/>
            <a:ext cx="152400" cy="1524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740991" y="4523846"/>
            <a:ext cx="3261568" cy="4191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002560" y="4523846"/>
            <a:ext cx="3448943" cy="4191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394549" y="4523846"/>
            <a:ext cx="3092797" cy="4191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91090" y="5351991"/>
            <a:ext cx="5562600" cy="11049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33400" y="5532966"/>
            <a:ext cx="133350" cy="17145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096000" y="5351991"/>
            <a:ext cx="5715000" cy="110490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324600" y="5532966"/>
            <a:ext cx="133350" cy="171450"/>
          </a:xfrm>
          <a:prstGeom prst="rect">
            <a:avLst/>
          </a:prstGeom>
        </p:spPr>
      </p:pic>
      <p:sp>
        <p:nvSpPr>
          <p:cNvPr id="37" name="Text 0"/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581C87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Discussion and Practical Implications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1"/>
          <p:cNvSpPr/>
          <p:nvPr/>
        </p:nvSpPr>
        <p:spPr>
          <a:xfrm>
            <a:off x="1009650" y="1189782"/>
            <a:ext cx="110490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6B21A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Global vs Local Ranking Approaches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2"/>
          <p:cNvSpPr/>
          <p:nvPr/>
        </p:nvSpPr>
        <p:spPr>
          <a:xfrm>
            <a:off x="914400" y="1714500"/>
            <a:ext cx="214776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6B21A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Global Approaches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"/>
          <p:cNvSpPr/>
          <p:nvPr/>
        </p:nvSpPr>
        <p:spPr>
          <a:xfrm>
            <a:off x="685800" y="2057400"/>
            <a:ext cx="63093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400" b="1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PageRank</a:t>
            </a: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: Random surfer model → global importance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4"/>
          <p:cNvSpPr/>
          <p:nvPr/>
        </p:nvSpPr>
        <p:spPr>
          <a:xfrm>
            <a:off x="685800" y="2324100"/>
            <a:ext cx="63093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Captures global network influence, not just local structure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5"/>
          <p:cNvSpPr/>
          <p:nvPr/>
        </p:nvSpPr>
        <p:spPr>
          <a:xfrm>
            <a:off x="685800" y="2590800"/>
            <a:ext cx="63093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Very stable with teleportation guaranteeing convergence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6"/>
          <p:cNvSpPr/>
          <p:nvPr/>
        </p:nvSpPr>
        <p:spPr>
          <a:xfrm>
            <a:off x="6591300" y="1714500"/>
            <a:ext cx="201096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66534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Local Approaches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7"/>
          <p:cNvSpPr/>
          <p:nvPr/>
        </p:nvSpPr>
        <p:spPr>
          <a:xfrm>
            <a:off x="6362700" y="2057400"/>
            <a:ext cx="63093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400" b="1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HITS</a:t>
            </a: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: Topic-specific search → role separation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8"/>
          <p:cNvSpPr/>
          <p:nvPr/>
        </p:nvSpPr>
        <p:spPr>
          <a:xfrm>
            <a:off x="6362700" y="2324100"/>
            <a:ext cx="63093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Sensitive to local subgraphs and query-dependent subwebs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 9"/>
          <p:cNvSpPr/>
          <p:nvPr/>
        </p:nvSpPr>
        <p:spPr>
          <a:xfrm>
            <a:off x="6362700" y="2590800"/>
            <a:ext cx="63093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May have multiple dominant eigenpairs for bipartite graphs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 10"/>
          <p:cNvSpPr/>
          <p:nvPr/>
        </p:nvSpPr>
        <p:spPr>
          <a:xfrm>
            <a:off x="971550" y="3190659"/>
            <a:ext cx="110490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6B21A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Algorithm Selection Criteria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 11"/>
          <p:cNvSpPr/>
          <p:nvPr/>
        </p:nvSpPr>
        <p:spPr>
          <a:xfrm>
            <a:off x="666750" y="3628496"/>
            <a:ext cx="1494830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Algorithm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 12"/>
          <p:cNvSpPr/>
          <p:nvPr/>
        </p:nvSpPr>
        <p:spPr>
          <a:xfrm>
            <a:off x="1912441" y="3628496"/>
            <a:ext cx="3261568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Best Use Case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 13"/>
          <p:cNvSpPr/>
          <p:nvPr/>
        </p:nvSpPr>
        <p:spPr>
          <a:xfrm>
            <a:off x="5174010" y="3628496"/>
            <a:ext cx="3448943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Key Advantage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 14"/>
          <p:cNvSpPr/>
          <p:nvPr/>
        </p:nvSpPr>
        <p:spPr>
          <a:xfrm>
            <a:off x="8622953" y="3628496"/>
            <a:ext cx="3711357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Implementation Note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 15"/>
          <p:cNvSpPr/>
          <p:nvPr/>
        </p:nvSpPr>
        <p:spPr>
          <a:xfrm>
            <a:off x="801811" y="4151841"/>
            <a:ext cx="1494830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PageRank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 16"/>
          <p:cNvSpPr/>
          <p:nvPr/>
        </p:nvSpPr>
        <p:spPr>
          <a:xfrm>
            <a:off x="1777923" y="4132436"/>
            <a:ext cx="3913882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Web search ranking, graph centrality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 17"/>
          <p:cNvSpPr/>
          <p:nvPr/>
        </p:nvSpPr>
        <p:spPr>
          <a:xfrm>
            <a:off x="5156128" y="4151841"/>
            <a:ext cx="4138732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Global importance with teleportation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 18"/>
          <p:cNvSpPr/>
          <p:nvPr/>
        </p:nvSpPr>
        <p:spPr>
          <a:xfrm>
            <a:off x="8470553" y="4114096"/>
            <a:ext cx="3711357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Parameter </a:t>
            </a:r>
            <a:r>
              <a:rPr lang="en-US" sz="1400" b="1" dirty="0">
                <a:solidFill>
                  <a:srgbClr val="00000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α = 0.85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 19"/>
          <p:cNvSpPr/>
          <p:nvPr/>
        </p:nvSpPr>
        <p:spPr>
          <a:xfrm>
            <a:off x="838200" y="4885796"/>
            <a:ext cx="1245691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HITS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 20"/>
          <p:cNvSpPr/>
          <p:nvPr/>
        </p:nvSpPr>
        <p:spPr>
          <a:xfrm>
            <a:off x="1760041" y="4865686"/>
            <a:ext cx="3913882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Topic-specific search, link analysis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 21"/>
          <p:cNvSpPr/>
          <p:nvPr/>
        </p:nvSpPr>
        <p:spPr>
          <a:xfrm>
            <a:off x="5174010" y="4865686"/>
            <a:ext cx="4138732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Role separation (hubs &amp; authorities)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 22"/>
          <p:cNvSpPr/>
          <p:nvPr/>
        </p:nvSpPr>
        <p:spPr>
          <a:xfrm>
            <a:off x="8489799" y="4885796"/>
            <a:ext cx="3711357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May need multiple runs for stability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 23"/>
          <p:cNvSpPr/>
          <p:nvPr/>
        </p:nvSpPr>
        <p:spPr>
          <a:xfrm>
            <a:off x="819150" y="4523846"/>
            <a:ext cx="1245691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SALSA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 24"/>
          <p:cNvSpPr/>
          <p:nvPr/>
        </p:nvSpPr>
        <p:spPr>
          <a:xfrm>
            <a:off x="1795806" y="4485746"/>
            <a:ext cx="3913882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Community discovery, hybrid ranking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 25"/>
          <p:cNvSpPr/>
          <p:nvPr/>
        </p:nvSpPr>
        <p:spPr>
          <a:xfrm>
            <a:off x="5138245" y="4485746"/>
            <a:ext cx="4138732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Stochastic role-based with communities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Text 26"/>
          <p:cNvSpPr/>
          <p:nvPr/>
        </p:nvSpPr>
        <p:spPr>
          <a:xfrm>
            <a:off x="8470553" y="4485746"/>
            <a:ext cx="3711357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Better for query-independent tasks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Text 27"/>
          <p:cNvSpPr/>
          <p:nvPr/>
        </p:nvSpPr>
        <p:spPr>
          <a:xfrm>
            <a:off x="742950" y="5504391"/>
            <a:ext cx="5334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6B21A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Key Insight 1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Text 28"/>
          <p:cNvSpPr/>
          <p:nvPr/>
        </p:nvSpPr>
        <p:spPr>
          <a:xfrm>
            <a:off x="533400" y="5847291"/>
            <a:ext cx="5334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Algorithm choice depends on whether you need global importance (PageRank) or role-based analysis (HITS/SALSA).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Text 29"/>
          <p:cNvSpPr/>
          <p:nvPr/>
        </p:nvSpPr>
        <p:spPr>
          <a:xfrm>
            <a:off x="6534150" y="5504391"/>
            <a:ext cx="5334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166534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Key Insight 2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Text 30"/>
          <p:cNvSpPr/>
          <p:nvPr/>
        </p:nvSpPr>
        <p:spPr>
          <a:xfrm>
            <a:off x="6324600" y="5847291"/>
            <a:ext cx="5334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For practical applications, consider stability requirements and convergence guarantees before algorithm selection.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Text 31"/>
          <p:cNvSpPr/>
          <p:nvPr/>
        </p:nvSpPr>
        <p:spPr>
          <a:xfrm>
            <a:off x="381000" y="6562196"/>
            <a:ext cx="428732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50" b="1" dirty="0">
                <a:solidFill>
                  <a:srgbClr val="6B21A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SALSA</a:t>
            </a:r>
            <a:r>
              <a:rPr lang="en-US" sz="1050" dirty="0">
                <a:solidFill>
                  <a:srgbClr val="6B728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 (</a:t>
            </a:r>
            <a:r>
              <a:rPr lang="en-US" sz="1050" b="1" dirty="0">
                <a:solidFill>
                  <a:srgbClr val="15803D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Stochastic Approach for Link-Structure Analysis)</a:t>
            </a:r>
          </a:p>
        </p:txBody>
      </p:sp>
      <p:sp>
        <p:nvSpPr>
          <p:cNvPr id="69" name="Text 32"/>
          <p:cNvSpPr/>
          <p:nvPr/>
        </p:nvSpPr>
        <p:spPr>
          <a:xfrm>
            <a:off x="11305222" y="6561136"/>
            <a:ext cx="56292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15 / 17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244918"/>
            <a:ext cx="3708350" cy="1752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1397318"/>
            <a:ext cx="381000" cy="381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1930718"/>
            <a:ext cx="152400" cy="152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2235518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400" y="2768918"/>
            <a:ext cx="3403550" cy="762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400" y="2768918"/>
            <a:ext cx="3403550" cy="762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10000" y="1244918"/>
            <a:ext cx="3708350" cy="1752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17127" y="1407796"/>
            <a:ext cx="403740" cy="381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62400" y="1930718"/>
            <a:ext cx="1524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62400" y="2235518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62400" y="2768918"/>
            <a:ext cx="3403550" cy="762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62400" y="2768918"/>
            <a:ext cx="2552551" cy="762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298477" y="1244918"/>
            <a:ext cx="3708350" cy="17526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05748" y="1367474"/>
            <a:ext cx="521147" cy="4191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425553" y="1930718"/>
            <a:ext cx="1524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425553" y="2235518"/>
            <a:ext cx="1524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425553" y="2768918"/>
            <a:ext cx="3403550" cy="762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425553" y="2768918"/>
            <a:ext cx="3403550" cy="762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11891" y="3400825"/>
            <a:ext cx="171450" cy="2286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11891" y="3899382"/>
            <a:ext cx="304800" cy="3048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88091" y="3975582"/>
            <a:ext cx="152400" cy="152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11891" y="4470882"/>
            <a:ext cx="304800" cy="3048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78566" y="4547082"/>
            <a:ext cx="171450" cy="152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11891" y="5193010"/>
            <a:ext cx="304800" cy="3048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69041" y="5269210"/>
            <a:ext cx="190500" cy="1524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298341" y="3429000"/>
            <a:ext cx="5943551" cy="22479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693225" y="4152982"/>
            <a:ext cx="76200" cy="1524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693225" y="4495882"/>
            <a:ext cx="76200" cy="1524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693225" y="4838782"/>
            <a:ext cx="76200" cy="1524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693225" y="5181682"/>
            <a:ext cx="76200" cy="152400"/>
          </a:xfrm>
          <a:prstGeom prst="rect">
            <a:avLst/>
          </a:prstGeom>
        </p:spPr>
      </p:pic>
      <p:sp>
        <p:nvSpPr>
          <p:cNvPr id="35" name="Text 0"/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581C87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Conclusions and Future Directions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1"/>
          <p:cNvSpPr/>
          <p:nvPr/>
        </p:nvSpPr>
        <p:spPr>
          <a:xfrm>
            <a:off x="627805" y="1463993"/>
            <a:ext cx="27485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PR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2"/>
          <p:cNvSpPr/>
          <p:nvPr/>
        </p:nvSpPr>
        <p:spPr>
          <a:xfrm>
            <a:off x="1028700" y="1454468"/>
            <a:ext cx="127944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B21A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PageRank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"/>
          <p:cNvSpPr/>
          <p:nvPr/>
        </p:nvSpPr>
        <p:spPr>
          <a:xfrm>
            <a:off x="762000" y="1892618"/>
            <a:ext cx="302037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Global importance measurement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4"/>
          <p:cNvSpPr/>
          <p:nvPr/>
        </p:nvSpPr>
        <p:spPr>
          <a:xfrm>
            <a:off x="762000" y="2197418"/>
            <a:ext cx="271248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Very stable with teleportation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5"/>
          <p:cNvSpPr/>
          <p:nvPr/>
        </p:nvSpPr>
        <p:spPr>
          <a:xfrm>
            <a:off x="533400" y="2540318"/>
            <a:ext cx="105513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Convergence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6"/>
          <p:cNvSpPr/>
          <p:nvPr/>
        </p:nvSpPr>
        <p:spPr>
          <a:xfrm>
            <a:off x="3145185" y="2540318"/>
            <a:ext cx="95011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Guaranteed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7"/>
          <p:cNvSpPr/>
          <p:nvPr/>
        </p:nvSpPr>
        <p:spPr>
          <a:xfrm>
            <a:off x="8353917" y="1473518"/>
            <a:ext cx="4775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HITS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8"/>
          <p:cNvSpPr/>
          <p:nvPr/>
        </p:nvSpPr>
        <p:spPr>
          <a:xfrm>
            <a:off x="8857700" y="1454468"/>
            <a:ext cx="59703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5803D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HITS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9"/>
          <p:cNvSpPr/>
          <p:nvPr/>
        </p:nvSpPr>
        <p:spPr>
          <a:xfrm>
            <a:off x="8591000" y="1892618"/>
            <a:ext cx="311521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Role separation (hubs/authorities)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10"/>
          <p:cNvSpPr/>
          <p:nvPr/>
        </p:nvSpPr>
        <p:spPr>
          <a:xfrm>
            <a:off x="8591000" y="2197418"/>
            <a:ext cx="308895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Mutual reinforcement mechanism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 11"/>
          <p:cNvSpPr/>
          <p:nvPr/>
        </p:nvSpPr>
        <p:spPr>
          <a:xfrm>
            <a:off x="8362400" y="2540318"/>
            <a:ext cx="105513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Convergence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 12"/>
          <p:cNvSpPr/>
          <p:nvPr/>
        </p:nvSpPr>
        <p:spPr>
          <a:xfrm>
            <a:off x="10319788" y="2540318"/>
            <a:ext cx="173539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Depends on structure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 13"/>
          <p:cNvSpPr/>
          <p:nvPr/>
        </p:nvSpPr>
        <p:spPr>
          <a:xfrm>
            <a:off x="4427170" y="1463993"/>
            <a:ext cx="66311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SALSA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 14"/>
          <p:cNvSpPr/>
          <p:nvPr/>
        </p:nvSpPr>
        <p:spPr>
          <a:xfrm>
            <a:off x="5024662" y="1437938"/>
            <a:ext cx="82885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A580C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SALSA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 15"/>
          <p:cNvSpPr/>
          <p:nvPr/>
        </p:nvSpPr>
        <p:spPr>
          <a:xfrm>
            <a:off x="4654153" y="1892618"/>
            <a:ext cx="288071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Combines PR and HITS benefits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 16"/>
          <p:cNvSpPr/>
          <p:nvPr/>
        </p:nvSpPr>
        <p:spPr>
          <a:xfrm>
            <a:off x="4654153" y="2197418"/>
            <a:ext cx="292768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Community detection capability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 17"/>
          <p:cNvSpPr/>
          <p:nvPr/>
        </p:nvSpPr>
        <p:spPr>
          <a:xfrm>
            <a:off x="4425553" y="2540318"/>
            <a:ext cx="105513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Convergence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 18"/>
          <p:cNvSpPr/>
          <p:nvPr/>
        </p:nvSpPr>
        <p:spPr>
          <a:xfrm>
            <a:off x="7037338" y="2540318"/>
            <a:ext cx="95011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Guaranteed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 19"/>
          <p:cNvSpPr/>
          <p:nvPr/>
        </p:nvSpPr>
        <p:spPr>
          <a:xfrm>
            <a:off x="659541" y="3372250"/>
            <a:ext cx="5562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6B21A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Recommendations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 20"/>
          <p:cNvSpPr/>
          <p:nvPr/>
        </p:nvSpPr>
        <p:spPr>
          <a:xfrm>
            <a:off x="830991" y="3899382"/>
            <a:ext cx="474508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Web Search: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 21"/>
          <p:cNvSpPr/>
          <p:nvPr/>
        </p:nvSpPr>
        <p:spPr>
          <a:xfrm>
            <a:off x="830991" y="4127982"/>
            <a:ext cx="569410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PageRank for global importance, SALSA for topic communities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 22"/>
          <p:cNvSpPr/>
          <p:nvPr/>
        </p:nvSpPr>
        <p:spPr>
          <a:xfrm>
            <a:off x="830991" y="4470882"/>
            <a:ext cx="51435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Link Analysis: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 23"/>
          <p:cNvSpPr/>
          <p:nvPr/>
        </p:nvSpPr>
        <p:spPr>
          <a:xfrm>
            <a:off x="830991" y="4699482"/>
            <a:ext cx="5448302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HITS for topic-specific hubs/authorities, SALSA for dynamic communities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 24"/>
          <p:cNvSpPr/>
          <p:nvPr/>
        </p:nvSpPr>
        <p:spPr>
          <a:xfrm>
            <a:off x="850041" y="5050422"/>
            <a:ext cx="415156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Community Detection: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 25"/>
          <p:cNvSpPr/>
          <p:nvPr/>
        </p:nvSpPr>
        <p:spPr>
          <a:xfrm>
            <a:off x="850041" y="5279022"/>
            <a:ext cx="498187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SALSA for natural communities, HITS for topic clusters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 27"/>
          <p:cNvSpPr/>
          <p:nvPr/>
        </p:nvSpPr>
        <p:spPr>
          <a:xfrm>
            <a:off x="6845625" y="4114882"/>
            <a:ext cx="405586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Temporal link analysis for evolving networks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Text 28"/>
          <p:cNvSpPr/>
          <p:nvPr/>
        </p:nvSpPr>
        <p:spPr>
          <a:xfrm>
            <a:off x="6845625" y="4457782"/>
            <a:ext cx="496544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Integration with content analysis for semantic ranking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Text 29"/>
          <p:cNvSpPr/>
          <p:nvPr/>
        </p:nvSpPr>
        <p:spPr>
          <a:xfrm>
            <a:off x="6845625" y="4800682"/>
            <a:ext cx="418230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Scalable implementations for massive graphs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Text 30"/>
          <p:cNvSpPr/>
          <p:nvPr/>
        </p:nvSpPr>
        <p:spPr>
          <a:xfrm>
            <a:off x="6845625" y="5143582"/>
            <a:ext cx="443984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Robustness to link spam and adversarial attacks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Text 31"/>
          <p:cNvSpPr/>
          <p:nvPr/>
        </p:nvSpPr>
        <p:spPr>
          <a:xfrm>
            <a:off x="381000" y="6286500"/>
            <a:ext cx="428732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50" b="1" dirty="0">
                <a:solidFill>
                  <a:srgbClr val="6B21A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SALSA</a:t>
            </a:r>
            <a:r>
              <a:rPr lang="en-US" sz="1050" dirty="0">
                <a:solidFill>
                  <a:srgbClr val="6B728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 (</a:t>
            </a:r>
            <a:r>
              <a:rPr lang="en-US" sz="1050" b="1" dirty="0">
                <a:solidFill>
                  <a:srgbClr val="15803D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Stochastic Approach for Link-Structure Analysis)</a:t>
            </a:r>
          </a:p>
        </p:txBody>
      </p:sp>
      <p:sp>
        <p:nvSpPr>
          <p:cNvPr id="67" name="Text 32"/>
          <p:cNvSpPr/>
          <p:nvPr/>
        </p:nvSpPr>
        <p:spPr>
          <a:xfrm>
            <a:off x="11341894" y="6286500"/>
            <a:ext cx="56292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16 / 17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143000"/>
            <a:ext cx="228600" cy="228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1524000"/>
            <a:ext cx="5562600" cy="20193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1714500"/>
            <a:ext cx="114300" cy="152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2667000"/>
            <a:ext cx="1143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3790950"/>
            <a:ext cx="257175" cy="2286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000" y="4191000"/>
            <a:ext cx="5562600" cy="17145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4381500"/>
            <a:ext cx="1143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5143500"/>
            <a:ext cx="1143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48400" y="1143000"/>
            <a:ext cx="228600" cy="2286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48400" y="1524000"/>
            <a:ext cx="5562600" cy="14859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1714500"/>
            <a:ext cx="1143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8400" y="4191000"/>
            <a:ext cx="5562600" cy="17145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0800" y="4381500"/>
            <a:ext cx="152400" cy="1524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581C87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References and Bibliography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"/>
          <p:cNvSpPr/>
          <p:nvPr/>
        </p:nvSpPr>
        <p:spPr>
          <a:xfrm>
            <a:off x="723900" y="1104900"/>
            <a:ext cx="5562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6B21A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PageRank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"/>
          <p:cNvSpPr/>
          <p:nvPr/>
        </p:nvSpPr>
        <p:spPr>
          <a:xfrm>
            <a:off x="762000" y="1676400"/>
            <a:ext cx="60350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Page, L. and Brin, S. (1998).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3"/>
          <p:cNvSpPr/>
          <p:nvPr/>
        </p:nvSpPr>
        <p:spPr>
          <a:xfrm>
            <a:off x="762000" y="1905000"/>
            <a:ext cx="60350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Anatomy of a large-scale hypertextual Web search engine.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4"/>
          <p:cNvSpPr/>
          <p:nvPr/>
        </p:nvSpPr>
        <p:spPr>
          <a:xfrm>
            <a:off x="762000" y="2133600"/>
            <a:ext cx="50292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400" i="1" dirty="0">
                <a:solidFill>
                  <a:srgbClr val="4B5563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Proceedings of the 7th International Conference on World Wide Web (WWW), 539-550.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5"/>
          <p:cNvSpPr/>
          <p:nvPr/>
        </p:nvSpPr>
        <p:spPr>
          <a:xfrm>
            <a:off x="762000" y="2628900"/>
            <a:ext cx="533834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Page, L., Brin, S., Motwani, R., and Winograd, T. (1999).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6"/>
          <p:cNvSpPr/>
          <p:nvPr/>
        </p:nvSpPr>
        <p:spPr>
          <a:xfrm>
            <a:off x="762000" y="2857500"/>
            <a:ext cx="533834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The PageRank citation ranking: Bringing order to the Web.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7"/>
          <p:cNvSpPr/>
          <p:nvPr/>
        </p:nvSpPr>
        <p:spPr>
          <a:xfrm>
            <a:off x="762000" y="3086100"/>
            <a:ext cx="533834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400" i="1" dirty="0">
                <a:solidFill>
                  <a:srgbClr val="4B5563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Technical Report, Stanford University.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8"/>
          <p:cNvSpPr/>
          <p:nvPr/>
        </p:nvSpPr>
        <p:spPr>
          <a:xfrm>
            <a:off x="752475" y="3771900"/>
            <a:ext cx="5562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6B21A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HITS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9"/>
          <p:cNvSpPr/>
          <p:nvPr/>
        </p:nvSpPr>
        <p:spPr>
          <a:xfrm>
            <a:off x="762000" y="4343400"/>
            <a:ext cx="476184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Kleinberg, J.M. (1999).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10"/>
          <p:cNvSpPr/>
          <p:nvPr/>
        </p:nvSpPr>
        <p:spPr>
          <a:xfrm>
            <a:off x="762000" y="4572000"/>
            <a:ext cx="476184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Authoritative sources in a hyperlinked environment.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11"/>
          <p:cNvSpPr/>
          <p:nvPr/>
        </p:nvSpPr>
        <p:spPr>
          <a:xfrm>
            <a:off x="762000" y="4800600"/>
            <a:ext cx="476184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400" i="1" dirty="0">
                <a:solidFill>
                  <a:srgbClr val="4B5563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Journal of the ACM, 46(5), 604-632.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12"/>
          <p:cNvSpPr/>
          <p:nvPr/>
        </p:nvSpPr>
        <p:spPr>
          <a:xfrm>
            <a:off x="762000" y="5105400"/>
            <a:ext cx="333023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Kleinberg, J.M. (1998).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13"/>
          <p:cNvSpPr/>
          <p:nvPr/>
        </p:nvSpPr>
        <p:spPr>
          <a:xfrm>
            <a:off x="762000" y="5334000"/>
            <a:ext cx="333023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Hubs, authorities, and communities.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14"/>
          <p:cNvSpPr/>
          <p:nvPr/>
        </p:nvSpPr>
        <p:spPr>
          <a:xfrm>
            <a:off x="762000" y="5562600"/>
            <a:ext cx="333023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400" i="1" dirty="0">
                <a:solidFill>
                  <a:srgbClr val="4B5563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ACM Computing Surveys, 30(2), 173-177.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15"/>
          <p:cNvSpPr/>
          <p:nvPr/>
        </p:nvSpPr>
        <p:spPr>
          <a:xfrm>
            <a:off x="6591300" y="1104900"/>
            <a:ext cx="5562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6B21A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SALSA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16"/>
          <p:cNvSpPr/>
          <p:nvPr/>
        </p:nvSpPr>
        <p:spPr>
          <a:xfrm>
            <a:off x="6629400" y="1676400"/>
            <a:ext cx="60350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Lempel, R. and Moran, S. (2000).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17"/>
          <p:cNvSpPr/>
          <p:nvPr/>
        </p:nvSpPr>
        <p:spPr>
          <a:xfrm>
            <a:off x="6629400" y="1905000"/>
            <a:ext cx="5029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The stochastic approach for link-structure analysis (SALSA) and the role of authorities.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18"/>
          <p:cNvSpPr/>
          <p:nvPr/>
        </p:nvSpPr>
        <p:spPr>
          <a:xfrm>
            <a:off x="6629400" y="2362200"/>
            <a:ext cx="50292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400" i="1" dirty="0">
                <a:solidFill>
                  <a:srgbClr val="4B5563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Proceedings of the 9th International Conference on World Wide Web (WWW), 552-561.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19"/>
          <p:cNvSpPr/>
          <p:nvPr/>
        </p:nvSpPr>
        <p:spPr>
          <a:xfrm>
            <a:off x="6562725" y="3771900"/>
            <a:ext cx="5562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6B21A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Additional Resources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20"/>
          <p:cNvSpPr/>
          <p:nvPr/>
        </p:nvSpPr>
        <p:spPr>
          <a:xfrm>
            <a:off x="6667500" y="4343400"/>
            <a:ext cx="452895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SNAP (Stanford Network Analysis Project)</a:t>
            </a:r>
          </a:p>
        </p:txBody>
      </p:sp>
      <p:sp>
        <p:nvSpPr>
          <p:cNvPr id="41" name="Text 21"/>
          <p:cNvSpPr/>
          <p:nvPr/>
        </p:nvSpPr>
        <p:spPr>
          <a:xfrm>
            <a:off x="6667500" y="4572000"/>
            <a:ext cx="452895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Collections of datasets and tools for link analysis.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22"/>
          <p:cNvSpPr/>
          <p:nvPr/>
        </p:nvSpPr>
        <p:spPr>
          <a:xfrm>
            <a:off x="6667500" y="4800600"/>
            <a:ext cx="452895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400" dirty="0">
                <a:hlinkClick r:id="rId13"/>
              </a:rPr>
              <a:t>https://snap.stanford.edu/index.html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24"/>
          <p:cNvSpPr/>
          <p:nvPr/>
        </p:nvSpPr>
        <p:spPr>
          <a:xfrm>
            <a:off x="6648450" y="5162550"/>
            <a:ext cx="45974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fontAlgn="ctr"/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UCLA Office of Advanced Research Computing (OARC)</a:t>
            </a:r>
          </a:p>
          <a:p>
            <a:br>
              <a:rPr lang="en-US" dirty="0"/>
            </a:b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25"/>
          <p:cNvSpPr/>
          <p:nvPr/>
        </p:nvSpPr>
        <p:spPr>
          <a:xfrm>
            <a:off x="6648450" y="5562600"/>
            <a:ext cx="4111764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 26"/>
          <p:cNvSpPr/>
          <p:nvPr/>
        </p:nvSpPr>
        <p:spPr>
          <a:xfrm>
            <a:off x="381000" y="6286500"/>
            <a:ext cx="428732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50" b="1" dirty="0">
                <a:solidFill>
                  <a:srgbClr val="6B21A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SALSA</a:t>
            </a:r>
            <a:r>
              <a:rPr lang="en-US" sz="1050" dirty="0">
                <a:solidFill>
                  <a:srgbClr val="6B728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 (</a:t>
            </a:r>
            <a:r>
              <a:rPr lang="en-US" sz="1050" b="1" dirty="0">
                <a:solidFill>
                  <a:srgbClr val="15803D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Stochastic Approach for Link-Structure Analysis)</a:t>
            </a:r>
          </a:p>
        </p:txBody>
      </p:sp>
      <p:sp>
        <p:nvSpPr>
          <p:cNvPr id="47" name="Text 27"/>
          <p:cNvSpPr/>
          <p:nvPr/>
        </p:nvSpPr>
        <p:spPr>
          <a:xfrm>
            <a:off x="11341894" y="6286500"/>
            <a:ext cx="56292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17 / 17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8" name="Image 15" descr="preencoded.png">
            <a:extLst>
              <a:ext uri="{FF2B5EF4-FFF2-40B4-BE49-F238E27FC236}">
                <a16:creationId xmlns:a16="http://schemas.microsoft.com/office/drawing/2014/main" id="{A126B559-34BD-F558-570A-63326222638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0800" y="5181600"/>
            <a:ext cx="152400" cy="152400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7EE49191-04E9-47D2-1798-E6FCBB806CC2}"/>
              </a:ext>
            </a:extLst>
          </p:cNvPr>
          <p:cNvSpPr txBox="1"/>
          <p:nvPr/>
        </p:nvSpPr>
        <p:spPr>
          <a:xfrm>
            <a:off x="6610350" y="5321497"/>
            <a:ext cx="63309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374151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  <a:hlinkClick r:id="rId14"/>
              </a:rPr>
              <a:t>https://www.youtube.com/watch?v=V_liCwE_ZoI</a:t>
            </a:r>
            <a:endParaRPr lang="en-US" sz="1400" dirty="0">
              <a:solidFill>
                <a:srgbClr val="374151"/>
              </a:solidFill>
              <a:latin typeface="Times New Roman" panose="02020603050405020304" pitchFamily="18" charset="0"/>
              <a:ea typeface="ui-sans-serif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51" name="Image 5" descr="preencoded.png">
            <a:extLst>
              <a:ext uri="{FF2B5EF4-FFF2-40B4-BE49-F238E27FC236}">
                <a16:creationId xmlns:a16="http://schemas.microsoft.com/office/drawing/2014/main" id="{A3F4E404-5C93-246E-EC1E-516AB52954B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48400" y="3822700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905</TotalTime>
  <Words>2196</Words>
  <Application>Microsoft Office PowerPoint</Application>
  <PresentationFormat>Widescreen</PresentationFormat>
  <Paragraphs>417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Justin-Marian POPESCU (124443)</cp:lastModifiedBy>
  <cp:revision>266</cp:revision>
  <dcterms:created xsi:type="dcterms:W3CDTF">2025-11-05T10:04:23Z</dcterms:created>
  <dcterms:modified xsi:type="dcterms:W3CDTF">2025-11-12T16:19:07Z</dcterms:modified>
</cp:coreProperties>
</file>